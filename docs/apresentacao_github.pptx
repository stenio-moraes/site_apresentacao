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2192000" cy="6858000"/>
  <p:notesSz cx="6858000" cy="9144000"/>
  <p:embeddedFontLst>
    <p:embeddedFont>
      <p:font typeface="Martel Semi-Bold" charset="1" panose="00000700000000000000"/>
      <p:regular r:id="rId17"/>
    </p:embeddedFont>
    <p:embeddedFont>
      <p:font typeface="Arimo" charset="1" panose="020B0604020202020204"/>
      <p:regular r:id="rId18"/>
    </p:embeddedFont>
    <p:embeddedFont>
      <p:font typeface="Arimo Bold" charset="1" panose="020B0704020202020204"/>
      <p:regular r:id="rId19"/>
    </p:embeddedFont>
    <p:embeddedFont>
      <p:font typeface="Martel Bold" charset="1" panose="00000800000000000000"/>
      <p:regular r:id="rId20"/>
    </p:embeddedFont>
    <p:embeddedFont>
      <p:font typeface="Martel Light" charset="1" panose="00000400000000000000"/>
      <p:regular r:id="rId21"/>
    </p:embeddedFont>
    <p:embeddedFont>
      <p:font typeface="Open Sans Bold" charset="1" panose="020B080603050402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.png" Type="http://schemas.openxmlformats.org/officeDocument/2006/relationships/image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sv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svg" Type="http://schemas.openxmlformats.org/officeDocument/2006/relationships/image"/><Relationship Id="rId11" Target="../media/image1.png" Type="http://schemas.openxmlformats.org/officeDocument/2006/relationships/image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6.svg" Type="http://schemas.openxmlformats.org/officeDocument/2006/relationships/image"/><Relationship Id="rId5" Target="../media/image17.svg" Type="http://schemas.openxmlformats.org/officeDocument/2006/relationships/image"/><Relationship Id="rId6" Target="../media/image18.svg" Type="http://schemas.openxmlformats.org/officeDocument/2006/relationships/image"/><Relationship Id="rId7" Target="../media/image19.svg" Type="http://schemas.openxmlformats.org/officeDocument/2006/relationships/image"/><Relationship Id="rId8" Target="../media/image20.svg" Type="http://schemas.openxmlformats.org/officeDocument/2006/relationships/image"/><Relationship Id="rId9" Target="../media/image21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png" Type="http://schemas.openxmlformats.org/officeDocument/2006/relationships/image"/><Relationship Id="rId4" Target="../media/image1.png" Type="http://schemas.openxmlformats.org/officeDocument/2006/relationships/image"/><Relationship Id="rId5" Target="../media/image25.png" Type="http://schemas.openxmlformats.org/officeDocument/2006/relationships/image"/><Relationship Id="rId6" Target="../media/image26.png" Type="http://schemas.openxmlformats.org/officeDocument/2006/relationships/image"/><Relationship Id="rId7" Target="../media/image2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7.png" Type="http://schemas.openxmlformats.org/officeDocument/2006/relationships/image"/><Relationship Id="rId11" Target="../media/image38.svg" Type="http://schemas.openxmlformats.org/officeDocument/2006/relationships/image"/><Relationship Id="rId12" Target="../media/image39.png" Type="http://schemas.openxmlformats.org/officeDocument/2006/relationships/image"/><Relationship Id="rId13" Target="../media/image40.svg" Type="http://schemas.openxmlformats.org/officeDocument/2006/relationships/image"/><Relationship Id="rId14" Target="../media/image1.png" Type="http://schemas.openxmlformats.org/officeDocument/2006/relationships/image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Relationship Id="rId6" Target="../media/image33.png" Type="http://schemas.openxmlformats.org/officeDocument/2006/relationships/image"/><Relationship Id="rId7" Target="../media/image34.svg" Type="http://schemas.openxmlformats.org/officeDocument/2006/relationships/image"/><Relationship Id="rId8" Target="../media/image35.png" Type="http://schemas.openxmlformats.org/officeDocument/2006/relationships/image"/><Relationship Id="rId9" Target="../media/image3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9.svg" Type="http://schemas.openxmlformats.org/officeDocument/2006/relationships/image"/><Relationship Id="rId11" Target="../media/image50.png" Type="http://schemas.openxmlformats.org/officeDocument/2006/relationships/image"/><Relationship Id="rId12" Target="../media/image1.png" Type="http://schemas.openxmlformats.org/officeDocument/2006/relationships/image"/><Relationship Id="rId2" Target="../media/image41.png" Type="http://schemas.openxmlformats.org/officeDocument/2006/relationships/image"/><Relationship Id="rId3" Target="../media/image42.svg" Type="http://schemas.openxmlformats.org/officeDocument/2006/relationships/image"/><Relationship Id="rId4" Target="../media/image43.png" Type="http://schemas.openxmlformats.org/officeDocument/2006/relationships/image"/><Relationship Id="rId5" Target="../media/image44.svg" Type="http://schemas.openxmlformats.org/officeDocument/2006/relationships/image"/><Relationship Id="rId6" Target="../media/image45.png" Type="http://schemas.openxmlformats.org/officeDocument/2006/relationships/image"/><Relationship Id="rId7" Target="../media/image46.svg" Type="http://schemas.openxmlformats.org/officeDocument/2006/relationships/image"/><Relationship Id="rId8" Target="../media/image47.svg" Type="http://schemas.openxmlformats.org/officeDocument/2006/relationships/image"/><Relationship Id="rId9" Target="../media/image4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243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342245" y="6343650"/>
            <a:ext cx="1754505" cy="419100"/>
            <a:chOff x="0" y="0"/>
            <a:chExt cx="2339340" cy="558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9340" cy="558800"/>
            </a:xfrm>
            <a:custGeom>
              <a:avLst/>
              <a:gdLst/>
              <a:ahLst/>
              <a:cxnLst/>
              <a:rect r="r" b="b" t="t" l="l"/>
              <a:pathLst>
                <a:path h="558800" w="2339340">
                  <a:moveTo>
                    <a:pt x="0" y="0"/>
                  </a:moveTo>
                  <a:lnTo>
                    <a:pt x="2339340" y="0"/>
                  </a:lnTo>
                  <a:lnTo>
                    <a:pt x="2339340" y="558800"/>
                  </a:lnTo>
                  <a:lnTo>
                    <a:pt x="0" y="558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85800" y="2921108"/>
            <a:ext cx="2994270" cy="3398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4"/>
              </a:lnSpc>
            </a:pPr>
            <a:r>
              <a:rPr lang="en-US" b="true" sz="1908">
                <a:solidFill>
                  <a:srgbClr val="D9E1FF"/>
                </a:solidFill>
                <a:latin typeface="Martel Semi-Bold"/>
                <a:ea typeface="Martel Semi-Bold"/>
                <a:cs typeface="Martel Semi-Bold"/>
                <a:sym typeface="Martel Semi-Bold"/>
              </a:rPr>
              <a:t>[Stênio Moraes ]</a:t>
            </a:r>
          </a:p>
          <a:p>
            <a:pPr algn="l">
              <a:lnSpc>
                <a:spcPts val="2994"/>
              </a:lnSpc>
            </a:pPr>
            <a:r>
              <a:rPr lang="en-US" b="true" sz="1908">
                <a:solidFill>
                  <a:srgbClr val="D9E1FF"/>
                </a:solidFill>
                <a:latin typeface="Martel Semi-Bold"/>
                <a:ea typeface="Martel Semi-Bold"/>
                <a:cs typeface="Martel Semi-Bold"/>
                <a:sym typeface="Martel Semi-Bold"/>
              </a:rPr>
              <a:t>[ José Saulo ]</a:t>
            </a:r>
          </a:p>
          <a:p>
            <a:pPr algn="l">
              <a:lnSpc>
                <a:spcPts val="2994"/>
              </a:lnSpc>
            </a:pPr>
            <a:r>
              <a:rPr lang="en-US" b="true" sz="1908">
                <a:solidFill>
                  <a:srgbClr val="D9E1FF"/>
                </a:solidFill>
                <a:latin typeface="Martel Semi-Bold"/>
                <a:ea typeface="Martel Semi-Bold"/>
                <a:cs typeface="Martel Semi-Bold"/>
                <a:sym typeface="Martel Semi-Bold"/>
              </a:rPr>
              <a:t>[ Kauan ]</a:t>
            </a:r>
          </a:p>
          <a:p>
            <a:pPr algn="l">
              <a:lnSpc>
                <a:spcPts val="2994"/>
              </a:lnSpc>
            </a:pPr>
            <a:r>
              <a:rPr lang="en-US" b="true" sz="1908">
                <a:solidFill>
                  <a:srgbClr val="D9E1FF"/>
                </a:solidFill>
                <a:latin typeface="Martel Semi-Bold"/>
                <a:ea typeface="Martel Semi-Bold"/>
                <a:cs typeface="Martel Semi-Bold"/>
                <a:sym typeface="Martel Semi-Bold"/>
              </a:rPr>
              <a:t>[ Lorrany ]</a:t>
            </a:r>
          </a:p>
          <a:p>
            <a:pPr algn="l">
              <a:lnSpc>
                <a:spcPts val="2994"/>
              </a:lnSpc>
            </a:pPr>
            <a:r>
              <a:rPr lang="en-US" b="true" sz="1908">
                <a:solidFill>
                  <a:srgbClr val="D9E1FF"/>
                </a:solidFill>
                <a:latin typeface="Martel Semi-Bold"/>
                <a:ea typeface="Martel Semi-Bold"/>
                <a:cs typeface="Martel Semi-Bold"/>
                <a:sym typeface="Martel Semi-Bold"/>
              </a:rPr>
              <a:t>[ Antônio Renan ]</a:t>
            </a:r>
          </a:p>
          <a:p>
            <a:pPr algn="l">
              <a:lnSpc>
                <a:spcPts val="2994"/>
              </a:lnSpc>
            </a:pPr>
            <a:r>
              <a:rPr lang="en-US" b="true" sz="1908">
                <a:solidFill>
                  <a:srgbClr val="D9E1FF"/>
                </a:solidFill>
                <a:latin typeface="Martel Semi-Bold"/>
                <a:ea typeface="Martel Semi-Bold"/>
                <a:cs typeface="Martel Semi-Bold"/>
                <a:sym typeface="Martel Semi-Bold"/>
              </a:rPr>
              <a:t>[ Maria Rosa ]</a:t>
            </a:r>
          </a:p>
          <a:p>
            <a:pPr algn="l">
              <a:lnSpc>
                <a:spcPts val="2994"/>
              </a:lnSpc>
            </a:pPr>
            <a:r>
              <a:rPr lang="en-US" b="true" sz="1908">
                <a:solidFill>
                  <a:srgbClr val="D9E1FF"/>
                </a:solidFill>
                <a:latin typeface="Martel Semi-Bold"/>
                <a:ea typeface="Martel Semi-Bold"/>
                <a:cs typeface="Martel Semi-Bold"/>
                <a:sym typeface="Martel Semi-Bold"/>
              </a:rPr>
              <a:t>[ Mizael ]</a:t>
            </a:r>
          </a:p>
          <a:p>
            <a:pPr algn="l">
              <a:lnSpc>
                <a:spcPts val="2994"/>
              </a:lnSpc>
            </a:pPr>
            <a:r>
              <a:rPr lang="en-US" b="true" sz="1908">
                <a:solidFill>
                  <a:srgbClr val="D9E1FF"/>
                </a:solidFill>
                <a:latin typeface="Martel Semi-Bold"/>
                <a:ea typeface="Martel Semi-Bold"/>
                <a:cs typeface="Martel Semi-Bold"/>
                <a:sym typeface="Martel Semi-Bold"/>
              </a:rPr>
              <a:t>[ Pedro Soares]</a:t>
            </a:r>
          </a:p>
          <a:p>
            <a:pPr algn="l">
              <a:lnSpc>
                <a:spcPts val="2994"/>
              </a:lnSpc>
            </a:pPr>
            <a:r>
              <a:rPr lang="en-US" b="true" sz="1908">
                <a:solidFill>
                  <a:srgbClr val="D9E1FF"/>
                </a:solidFill>
                <a:latin typeface="Martel Semi-Bold"/>
                <a:ea typeface="Martel Semi-Bold"/>
                <a:cs typeface="Martel Semi-Bold"/>
                <a:sym typeface="Martel Semi-Bold"/>
              </a:rPr>
              <a:t>[ 2° DDS ]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85800" y="1493080"/>
            <a:ext cx="7380825" cy="1340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6"/>
              </a:lnSpc>
            </a:pPr>
            <a:r>
              <a:rPr lang="en-US" b="true" sz="2018">
                <a:solidFill>
                  <a:srgbClr val="D9E1FF"/>
                </a:solidFill>
                <a:latin typeface="Martel Semi-Bold"/>
                <a:ea typeface="Martel Semi-Bold"/>
                <a:cs typeface="Martel Semi-Bold"/>
                <a:sym typeface="Martel Semi-Bold"/>
              </a:rPr>
              <a:t>Controle de versão e colaboração em projetos de software [ Equipe ]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05928" y="284095"/>
            <a:ext cx="4070284" cy="955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8"/>
              </a:lnSpc>
            </a:pPr>
            <a:r>
              <a:rPr lang="en-US" sz="549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Git e GitHub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799490" y="6205538"/>
            <a:ext cx="5558704" cy="1304925"/>
            <a:chOff x="0" y="0"/>
            <a:chExt cx="5558704" cy="130492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558704" cy="1304925"/>
            </a:xfrm>
            <a:custGeom>
              <a:avLst/>
              <a:gdLst/>
              <a:ahLst/>
              <a:cxnLst/>
              <a:rect r="r" b="b" t="t" l="l"/>
              <a:pathLst>
                <a:path h="1304925" w="5558704">
                  <a:moveTo>
                    <a:pt x="0" y="0"/>
                  </a:moveTo>
                  <a:lnTo>
                    <a:pt x="0" y="1304925"/>
                  </a:lnTo>
                  <a:lnTo>
                    <a:pt x="5558704" y="1304925"/>
                  </a:lnTo>
                  <a:lnTo>
                    <a:pt x="5558704" y="0"/>
                  </a:lnTo>
                  <a:close/>
                </a:path>
              </a:pathLst>
            </a:custGeom>
            <a:solidFill>
              <a:srgbClr val="536174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9524738" y="6454579"/>
            <a:ext cx="5558704" cy="1304925"/>
            <a:chOff x="0" y="0"/>
            <a:chExt cx="5558704" cy="130492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558704" cy="1304925"/>
            </a:xfrm>
            <a:custGeom>
              <a:avLst/>
              <a:gdLst/>
              <a:ahLst/>
              <a:cxnLst/>
              <a:rect r="r" b="b" t="t" l="l"/>
              <a:pathLst>
                <a:path h="1304925" w="5558704">
                  <a:moveTo>
                    <a:pt x="0" y="0"/>
                  </a:moveTo>
                  <a:lnTo>
                    <a:pt x="0" y="1304925"/>
                  </a:lnTo>
                  <a:lnTo>
                    <a:pt x="5558704" y="1304925"/>
                  </a:lnTo>
                  <a:lnTo>
                    <a:pt x="5558704" y="0"/>
                  </a:lnTo>
                  <a:close/>
                </a:path>
              </a:pathLst>
            </a:custGeom>
            <a:solidFill>
              <a:srgbClr val="536174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249986" y="5849316"/>
            <a:ext cx="5558704" cy="1304925"/>
            <a:chOff x="0" y="0"/>
            <a:chExt cx="5558704" cy="130492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558704" cy="1304925"/>
            </a:xfrm>
            <a:custGeom>
              <a:avLst/>
              <a:gdLst/>
              <a:ahLst/>
              <a:cxnLst/>
              <a:rect r="r" b="b" t="t" l="l"/>
              <a:pathLst>
                <a:path h="1304925" w="5558704">
                  <a:moveTo>
                    <a:pt x="0" y="0"/>
                  </a:moveTo>
                  <a:lnTo>
                    <a:pt x="0" y="1304925"/>
                  </a:lnTo>
                  <a:lnTo>
                    <a:pt x="5558704" y="1304925"/>
                  </a:lnTo>
                  <a:lnTo>
                    <a:pt x="5558704" y="0"/>
                  </a:lnTo>
                  <a:close/>
                </a:path>
              </a:pathLst>
            </a:custGeom>
            <a:solidFill>
              <a:srgbClr val="324359"/>
            </a:solid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03" y="-63503"/>
            <a:ext cx="12318997" cy="6984997"/>
            <a:chOff x="0" y="0"/>
            <a:chExt cx="12319000" cy="6985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63500"/>
              <a:ext cx="12192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12192000">
                  <a:moveTo>
                    <a:pt x="0" y="6829425"/>
                  </a:moveTo>
                  <a:lnTo>
                    <a:pt x="0" y="28575"/>
                  </a:ln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lnTo>
                    <a:pt x="12163425" y="0"/>
                  </a:lnTo>
                  <a:cubicBezTo>
                    <a:pt x="12167235" y="0"/>
                    <a:pt x="12170918" y="762"/>
                    <a:pt x="12174347" y="2159"/>
                  </a:cubicBezTo>
                  <a:cubicBezTo>
                    <a:pt x="12177776" y="3556"/>
                    <a:pt x="12180951" y="5715"/>
                    <a:pt x="12183618" y="8382"/>
                  </a:cubicBezTo>
                  <a:cubicBezTo>
                    <a:pt x="12186285" y="11049"/>
                    <a:pt x="12188317" y="14097"/>
                    <a:pt x="12189841" y="17653"/>
                  </a:cubicBezTo>
                  <a:cubicBezTo>
                    <a:pt x="12191365" y="21209"/>
                    <a:pt x="12192000" y="24765"/>
                    <a:pt x="12192000" y="28575"/>
                  </a:cubicBezTo>
                  <a:lnTo>
                    <a:pt x="12192000" y="6829425"/>
                  </a:lnTo>
                  <a:cubicBezTo>
                    <a:pt x="12192000" y="6833235"/>
                    <a:pt x="12191238" y="6836918"/>
                    <a:pt x="12189841" y="6840347"/>
                  </a:cubicBezTo>
                  <a:cubicBezTo>
                    <a:pt x="12188444" y="6843776"/>
                    <a:pt x="12186285" y="6846951"/>
                    <a:pt x="12183618" y="6849618"/>
                  </a:cubicBezTo>
                  <a:cubicBezTo>
                    <a:pt x="12180951" y="6852285"/>
                    <a:pt x="12177903" y="6854317"/>
                    <a:pt x="12174347" y="6855841"/>
                  </a:cubicBezTo>
                  <a:cubicBezTo>
                    <a:pt x="12170791" y="6857365"/>
                    <a:pt x="12167235" y="6858000"/>
                    <a:pt x="12163425" y="6858000"/>
                  </a:cubicBezTo>
                  <a:lnTo>
                    <a:pt x="28575" y="6858000"/>
                  </a:lnTo>
                  <a:cubicBezTo>
                    <a:pt x="24765" y="6858000"/>
                    <a:pt x="21082" y="6857238"/>
                    <a:pt x="17653" y="6855841"/>
                  </a:cubicBezTo>
                  <a:cubicBezTo>
                    <a:pt x="14224" y="6854444"/>
                    <a:pt x="11049" y="6852285"/>
                    <a:pt x="8382" y="6849618"/>
                  </a:cubicBezTo>
                  <a:cubicBezTo>
                    <a:pt x="5715" y="6846951"/>
                    <a:pt x="3683" y="6843903"/>
                    <a:pt x="2159" y="6840347"/>
                  </a:cubicBezTo>
                  <a:cubicBezTo>
                    <a:pt x="635" y="6836791"/>
                    <a:pt x="0" y="6833235"/>
                    <a:pt x="0" y="6829425"/>
                  </a:cubicBezTo>
                  <a:close/>
                </a:path>
              </a:pathLst>
            </a:custGeom>
            <a:solidFill>
              <a:srgbClr val="405FB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63500"/>
              <a:ext cx="2286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228600">
                  <a:moveTo>
                    <a:pt x="0" y="6829425"/>
                  </a:moveTo>
                  <a:lnTo>
                    <a:pt x="0" y="28575"/>
                  </a:ln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lnTo>
                    <a:pt x="200025" y="0"/>
                  </a:lnTo>
                  <a:cubicBezTo>
                    <a:pt x="203835" y="0"/>
                    <a:pt x="207518" y="762"/>
                    <a:pt x="210947" y="2159"/>
                  </a:cubicBezTo>
                  <a:cubicBezTo>
                    <a:pt x="214376" y="3556"/>
                    <a:pt x="217551" y="5715"/>
                    <a:pt x="220218" y="8382"/>
                  </a:cubicBezTo>
                  <a:cubicBezTo>
                    <a:pt x="222885" y="11049"/>
                    <a:pt x="224917" y="14097"/>
                    <a:pt x="226441" y="17653"/>
                  </a:cubicBezTo>
                  <a:cubicBezTo>
                    <a:pt x="227965" y="21209"/>
                    <a:pt x="228600" y="24765"/>
                    <a:pt x="228600" y="28575"/>
                  </a:cubicBezTo>
                  <a:lnTo>
                    <a:pt x="228600" y="6829425"/>
                  </a:lnTo>
                  <a:cubicBezTo>
                    <a:pt x="228600" y="6833235"/>
                    <a:pt x="227838" y="6836918"/>
                    <a:pt x="226441" y="6840347"/>
                  </a:cubicBezTo>
                  <a:cubicBezTo>
                    <a:pt x="225044" y="6843776"/>
                    <a:pt x="222885" y="6846951"/>
                    <a:pt x="220218" y="6849618"/>
                  </a:cubicBezTo>
                  <a:cubicBezTo>
                    <a:pt x="217551" y="6852285"/>
                    <a:pt x="214503" y="6854317"/>
                    <a:pt x="210947" y="6855841"/>
                  </a:cubicBezTo>
                  <a:cubicBezTo>
                    <a:pt x="207391" y="6857365"/>
                    <a:pt x="203835" y="6858000"/>
                    <a:pt x="200025" y="6858000"/>
                  </a:cubicBezTo>
                  <a:lnTo>
                    <a:pt x="28575" y="6858000"/>
                  </a:lnTo>
                  <a:cubicBezTo>
                    <a:pt x="24765" y="6858000"/>
                    <a:pt x="21082" y="6857238"/>
                    <a:pt x="17653" y="6855841"/>
                  </a:cubicBezTo>
                  <a:cubicBezTo>
                    <a:pt x="14224" y="6854444"/>
                    <a:pt x="11049" y="6852285"/>
                    <a:pt x="8382" y="6849618"/>
                  </a:cubicBezTo>
                  <a:cubicBezTo>
                    <a:pt x="5715" y="6846951"/>
                    <a:pt x="3683" y="6843903"/>
                    <a:pt x="2159" y="6840347"/>
                  </a:cubicBezTo>
                  <a:cubicBezTo>
                    <a:pt x="635" y="6836791"/>
                    <a:pt x="0" y="6833235"/>
                    <a:pt x="0" y="6829425"/>
                  </a:cubicBezTo>
                  <a:close/>
                </a:path>
              </a:pathLst>
            </a:custGeom>
            <a:solidFill>
              <a:srgbClr val="172A52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977900" y="3006725"/>
              <a:ext cx="10363200" cy="1238250"/>
            </a:xfrm>
            <a:custGeom>
              <a:avLst/>
              <a:gdLst/>
              <a:ahLst/>
              <a:cxnLst/>
              <a:rect r="r" b="b" t="t" l="l"/>
              <a:pathLst>
                <a:path h="1238250" w="10363200">
                  <a:moveTo>
                    <a:pt x="0" y="1209675"/>
                  </a:moveTo>
                  <a:lnTo>
                    <a:pt x="0" y="28575"/>
                  </a:ln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lnTo>
                    <a:pt x="10334625" y="0"/>
                  </a:lnTo>
                  <a:cubicBezTo>
                    <a:pt x="10338435" y="0"/>
                    <a:pt x="10342118" y="762"/>
                    <a:pt x="10345547" y="2159"/>
                  </a:cubicBezTo>
                  <a:cubicBezTo>
                    <a:pt x="10348976" y="3556"/>
                    <a:pt x="10352151" y="5715"/>
                    <a:pt x="10354818" y="8382"/>
                  </a:cubicBezTo>
                  <a:cubicBezTo>
                    <a:pt x="10357485" y="11049"/>
                    <a:pt x="10359517" y="14097"/>
                    <a:pt x="10361041" y="17653"/>
                  </a:cubicBezTo>
                  <a:cubicBezTo>
                    <a:pt x="10362565" y="21209"/>
                    <a:pt x="10363200" y="24765"/>
                    <a:pt x="10363200" y="28575"/>
                  </a:cubicBezTo>
                  <a:lnTo>
                    <a:pt x="10363200" y="1209675"/>
                  </a:lnTo>
                  <a:cubicBezTo>
                    <a:pt x="10363200" y="1213485"/>
                    <a:pt x="10362438" y="1217168"/>
                    <a:pt x="10361041" y="1220597"/>
                  </a:cubicBezTo>
                  <a:cubicBezTo>
                    <a:pt x="10359644" y="1224026"/>
                    <a:pt x="10357485" y="1227201"/>
                    <a:pt x="10354818" y="1229868"/>
                  </a:cubicBezTo>
                  <a:cubicBezTo>
                    <a:pt x="10352151" y="1232535"/>
                    <a:pt x="10349103" y="1234567"/>
                    <a:pt x="10345547" y="1236091"/>
                  </a:cubicBezTo>
                  <a:cubicBezTo>
                    <a:pt x="10341991" y="1237615"/>
                    <a:pt x="10338435" y="1238250"/>
                    <a:pt x="10334625" y="1238250"/>
                  </a:cubicBezTo>
                  <a:lnTo>
                    <a:pt x="28575" y="1238250"/>
                  </a:lnTo>
                  <a:cubicBezTo>
                    <a:pt x="24765" y="1238250"/>
                    <a:pt x="21082" y="1237488"/>
                    <a:pt x="17653" y="1236091"/>
                  </a:cubicBezTo>
                  <a:cubicBezTo>
                    <a:pt x="14224" y="1234694"/>
                    <a:pt x="11049" y="1232535"/>
                    <a:pt x="8382" y="1229868"/>
                  </a:cubicBezTo>
                  <a:cubicBezTo>
                    <a:pt x="5715" y="1227201"/>
                    <a:pt x="3683" y="1224153"/>
                    <a:pt x="2159" y="1220597"/>
                  </a:cubicBezTo>
                  <a:cubicBezTo>
                    <a:pt x="635" y="1217041"/>
                    <a:pt x="0" y="1213485"/>
                    <a:pt x="0" y="1209675"/>
                  </a:cubicBezTo>
                  <a:close/>
                </a:path>
              </a:pathLst>
            </a:custGeom>
            <a:solidFill>
              <a:srgbClr val="17345A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977900" y="5521325"/>
              <a:ext cx="3200400" cy="514350"/>
            </a:xfrm>
            <a:custGeom>
              <a:avLst/>
              <a:gdLst/>
              <a:ahLst/>
              <a:cxnLst/>
              <a:rect r="r" b="b" t="t" l="l"/>
              <a:pathLst>
                <a:path h="514350" w="3200400">
                  <a:moveTo>
                    <a:pt x="0" y="485775"/>
                  </a:moveTo>
                  <a:lnTo>
                    <a:pt x="0" y="28575"/>
                  </a:ln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lnTo>
                    <a:pt x="3171825" y="0"/>
                  </a:lnTo>
                  <a:cubicBezTo>
                    <a:pt x="3175635" y="0"/>
                    <a:pt x="3179318" y="762"/>
                    <a:pt x="3182747" y="2159"/>
                  </a:cubicBezTo>
                  <a:cubicBezTo>
                    <a:pt x="3186176" y="3556"/>
                    <a:pt x="3189351" y="5715"/>
                    <a:pt x="3192018" y="8382"/>
                  </a:cubicBezTo>
                  <a:cubicBezTo>
                    <a:pt x="3194685" y="11049"/>
                    <a:pt x="3196717" y="14097"/>
                    <a:pt x="3198241" y="17653"/>
                  </a:cubicBezTo>
                  <a:cubicBezTo>
                    <a:pt x="3199765" y="21209"/>
                    <a:pt x="3200400" y="24765"/>
                    <a:pt x="3200400" y="28575"/>
                  </a:cubicBezTo>
                  <a:lnTo>
                    <a:pt x="3200400" y="485775"/>
                  </a:lnTo>
                  <a:cubicBezTo>
                    <a:pt x="3200400" y="489585"/>
                    <a:pt x="3199638" y="493268"/>
                    <a:pt x="3198241" y="496697"/>
                  </a:cubicBezTo>
                  <a:cubicBezTo>
                    <a:pt x="3196844" y="500126"/>
                    <a:pt x="3194685" y="503301"/>
                    <a:pt x="3192018" y="505968"/>
                  </a:cubicBezTo>
                  <a:cubicBezTo>
                    <a:pt x="3189351" y="508635"/>
                    <a:pt x="3186303" y="510667"/>
                    <a:pt x="3182747" y="512191"/>
                  </a:cubicBezTo>
                  <a:cubicBezTo>
                    <a:pt x="3179191" y="513715"/>
                    <a:pt x="3175635" y="514350"/>
                    <a:pt x="3171825" y="514350"/>
                  </a:cubicBezTo>
                  <a:lnTo>
                    <a:pt x="28575" y="514350"/>
                  </a:lnTo>
                  <a:cubicBezTo>
                    <a:pt x="24765" y="514350"/>
                    <a:pt x="21082" y="513588"/>
                    <a:pt x="17653" y="512191"/>
                  </a:cubicBezTo>
                  <a:cubicBezTo>
                    <a:pt x="14224" y="510794"/>
                    <a:pt x="11049" y="508635"/>
                    <a:pt x="8382" y="505968"/>
                  </a:cubicBezTo>
                  <a:cubicBezTo>
                    <a:pt x="5715" y="503301"/>
                    <a:pt x="3683" y="500253"/>
                    <a:pt x="2159" y="496697"/>
                  </a:cubicBezTo>
                  <a:cubicBezTo>
                    <a:pt x="635" y="493141"/>
                    <a:pt x="0" y="489585"/>
                    <a:pt x="0" y="485775"/>
                  </a:cubicBezTo>
                  <a:close/>
                </a:path>
              </a:pathLst>
            </a:custGeom>
            <a:solidFill>
              <a:srgbClr val="122442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4559300" y="5521325"/>
              <a:ext cx="3200400" cy="514350"/>
            </a:xfrm>
            <a:custGeom>
              <a:avLst/>
              <a:gdLst/>
              <a:ahLst/>
              <a:cxnLst/>
              <a:rect r="r" b="b" t="t" l="l"/>
              <a:pathLst>
                <a:path h="514350" w="3200400">
                  <a:moveTo>
                    <a:pt x="0" y="485775"/>
                  </a:moveTo>
                  <a:lnTo>
                    <a:pt x="0" y="28575"/>
                  </a:ln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lnTo>
                    <a:pt x="3171825" y="0"/>
                  </a:lnTo>
                  <a:cubicBezTo>
                    <a:pt x="3175635" y="0"/>
                    <a:pt x="3179318" y="762"/>
                    <a:pt x="3182747" y="2159"/>
                  </a:cubicBezTo>
                  <a:cubicBezTo>
                    <a:pt x="3186176" y="3556"/>
                    <a:pt x="3189351" y="5715"/>
                    <a:pt x="3192018" y="8382"/>
                  </a:cubicBezTo>
                  <a:cubicBezTo>
                    <a:pt x="3194685" y="11049"/>
                    <a:pt x="3196717" y="14097"/>
                    <a:pt x="3198241" y="17653"/>
                  </a:cubicBezTo>
                  <a:cubicBezTo>
                    <a:pt x="3199765" y="21209"/>
                    <a:pt x="3200400" y="24765"/>
                    <a:pt x="3200400" y="28575"/>
                  </a:cubicBezTo>
                  <a:lnTo>
                    <a:pt x="3200400" y="485775"/>
                  </a:lnTo>
                  <a:cubicBezTo>
                    <a:pt x="3200400" y="489585"/>
                    <a:pt x="3199638" y="493268"/>
                    <a:pt x="3198241" y="496697"/>
                  </a:cubicBezTo>
                  <a:cubicBezTo>
                    <a:pt x="3196844" y="500126"/>
                    <a:pt x="3194685" y="503301"/>
                    <a:pt x="3192018" y="505968"/>
                  </a:cubicBezTo>
                  <a:cubicBezTo>
                    <a:pt x="3189351" y="508635"/>
                    <a:pt x="3186303" y="510667"/>
                    <a:pt x="3182747" y="512191"/>
                  </a:cubicBezTo>
                  <a:cubicBezTo>
                    <a:pt x="3179191" y="513715"/>
                    <a:pt x="3175635" y="514350"/>
                    <a:pt x="3171825" y="514350"/>
                  </a:cubicBezTo>
                  <a:lnTo>
                    <a:pt x="28575" y="514350"/>
                  </a:lnTo>
                  <a:cubicBezTo>
                    <a:pt x="24765" y="514350"/>
                    <a:pt x="21082" y="513588"/>
                    <a:pt x="17653" y="512191"/>
                  </a:cubicBezTo>
                  <a:cubicBezTo>
                    <a:pt x="14224" y="510794"/>
                    <a:pt x="11049" y="508635"/>
                    <a:pt x="8382" y="505968"/>
                  </a:cubicBezTo>
                  <a:cubicBezTo>
                    <a:pt x="5715" y="503301"/>
                    <a:pt x="3683" y="500253"/>
                    <a:pt x="2159" y="496697"/>
                  </a:cubicBezTo>
                  <a:cubicBezTo>
                    <a:pt x="635" y="493141"/>
                    <a:pt x="0" y="489585"/>
                    <a:pt x="0" y="485775"/>
                  </a:cubicBezTo>
                  <a:close/>
                </a:path>
              </a:pathLst>
            </a:custGeom>
            <a:solidFill>
              <a:srgbClr val="122442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8140700" y="5521325"/>
              <a:ext cx="3200400" cy="514350"/>
            </a:xfrm>
            <a:custGeom>
              <a:avLst/>
              <a:gdLst/>
              <a:ahLst/>
              <a:cxnLst/>
              <a:rect r="r" b="b" t="t" l="l"/>
              <a:pathLst>
                <a:path h="514350" w="3200400">
                  <a:moveTo>
                    <a:pt x="0" y="485775"/>
                  </a:moveTo>
                  <a:lnTo>
                    <a:pt x="0" y="28575"/>
                  </a:ln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lnTo>
                    <a:pt x="3171825" y="0"/>
                  </a:lnTo>
                  <a:cubicBezTo>
                    <a:pt x="3175635" y="0"/>
                    <a:pt x="3179318" y="762"/>
                    <a:pt x="3182747" y="2159"/>
                  </a:cubicBezTo>
                  <a:cubicBezTo>
                    <a:pt x="3186176" y="3556"/>
                    <a:pt x="3189351" y="5715"/>
                    <a:pt x="3192018" y="8382"/>
                  </a:cubicBezTo>
                  <a:cubicBezTo>
                    <a:pt x="3194685" y="11049"/>
                    <a:pt x="3196717" y="14097"/>
                    <a:pt x="3198241" y="17653"/>
                  </a:cubicBezTo>
                  <a:cubicBezTo>
                    <a:pt x="3199765" y="21209"/>
                    <a:pt x="3200400" y="24765"/>
                    <a:pt x="3200400" y="28575"/>
                  </a:cubicBezTo>
                  <a:lnTo>
                    <a:pt x="3200400" y="485775"/>
                  </a:lnTo>
                  <a:cubicBezTo>
                    <a:pt x="3200400" y="489585"/>
                    <a:pt x="3199638" y="493268"/>
                    <a:pt x="3198241" y="496697"/>
                  </a:cubicBezTo>
                  <a:cubicBezTo>
                    <a:pt x="3196844" y="500126"/>
                    <a:pt x="3194685" y="503301"/>
                    <a:pt x="3192018" y="505968"/>
                  </a:cubicBezTo>
                  <a:cubicBezTo>
                    <a:pt x="3189351" y="508635"/>
                    <a:pt x="3186303" y="510667"/>
                    <a:pt x="3182747" y="512191"/>
                  </a:cubicBezTo>
                  <a:cubicBezTo>
                    <a:pt x="3179191" y="513715"/>
                    <a:pt x="3175635" y="514350"/>
                    <a:pt x="3171825" y="514350"/>
                  </a:cubicBezTo>
                  <a:lnTo>
                    <a:pt x="28575" y="514350"/>
                  </a:lnTo>
                  <a:cubicBezTo>
                    <a:pt x="24765" y="514350"/>
                    <a:pt x="21082" y="513588"/>
                    <a:pt x="17653" y="512191"/>
                  </a:cubicBezTo>
                  <a:cubicBezTo>
                    <a:pt x="14224" y="510794"/>
                    <a:pt x="11049" y="508635"/>
                    <a:pt x="8382" y="505968"/>
                  </a:cubicBezTo>
                  <a:cubicBezTo>
                    <a:pt x="5715" y="503301"/>
                    <a:pt x="3683" y="500253"/>
                    <a:pt x="2159" y="496697"/>
                  </a:cubicBezTo>
                  <a:cubicBezTo>
                    <a:pt x="635" y="493141"/>
                    <a:pt x="0" y="489585"/>
                    <a:pt x="0" y="485775"/>
                  </a:cubicBezTo>
                  <a:close/>
                </a:path>
              </a:pathLst>
            </a:custGeom>
            <a:solidFill>
              <a:srgbClr val="122442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1304" y="5235087"/>
            <a:ext cx="3203608" cy="420630"/>
            <a:chOff x="0" y="0"/>
            <a:chExt cx="1265623" cy="1661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65623" cy="166175"/>
            </a:xfrm>
            <a:custGeom>
              <a:avLst/>
              <a:gdLst/>
              <a:ahLst/>
              <a:cxnLst/>
              <a:rect r="r" b="b" t="t" l="l"/>
              <a:pathLst>
                <a:path h="166175" w="1265623">
                  <a:moveTo>
                    <a:pt x="26583" y="0"/>
                  </a:moveTo>
                  <a:lnTo>
                    <a:pt x="1239040" y="0"/>
                  </a:lnTo>
                  <a:cubicBezTo>
                    <a:pt x="1246090" y="0"/>
                    <a:pt x="1252852" y="2801"/>
                    <a:pt x="1257837" y="7786"/>
                  </a:cubicBezTo>
                  <a:cubicBezTo>
                    <a:pt x="1262822" y="12771"/>
                    <a:pt x="1265623" y="19533"/>
                    <a:pt x="1265623" y="26583"/>
                  </a:cubicBezTo>
                  <a:lnTo>
                    <a:pt x="1265623" y="139592"/>
                  </a:lnTo>
                  <a:cubicBezTo>
                    <a:pt x="1265623" y="146642"/>
                    <a:pt x="1262822" y="153403"/>
                    <a:pt x="1257837" y="158389"/>
                  </a:cubicBezTo>
                  <a:cubicBezTo>
                    <a:pt x="1252852" y="163374"/>
                    <a:pt x="1246090" y="166175"/>
                    <a:pt x="1239040" y="166175"/>
                  </a:cubicBezTo>
                  <a:lnTo>
                    <a:pt x="26583" y="166175"/>
                  </a:lnTo>
                  <a:cubicBezTo>
                    <a:pt x="19533" y="166175"/>
                    <a:pt x="12771" y="163374"/>
                    <a:pt x="7786" y="158389"/>
                  </a:cubicBezTo>
                  <a:cubicBezTo>
                    <a:pt x="2801" y="153403"/>
                    <a:pt x="0" y="146642"/>
                    <a:pt x="0" y="139592"/>
                  </a:cubicBezTo>
                  <a:lnTo>
                    <a:pt x="0" y="26583"/>
                  </a:lnTo>
                  <a:cubicBezTo>
                    <a:pt x="0" y="19533"/>
                    <a:pt x="2801" y="12771"/>
                    <a:pt x="7786" y="7786"/>
                  </a:cubicBezTo>
                  <a:cubicBezTo>
                    <a:pt x="12771" y="2801"/>
                    <a:pt x="19533" y="0"/>
                    <a:pt x="26583" y="0"/>
                  </a:cubicBezTo>
                  <a:close/>
                </a:path>
              </a:pathLst>
            </a:custGeom>
            <a:solidFill>
              <a:srgbClr val="12244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265623" cy="204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5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342245" y="6343650"/>
            <a:ext cx="1754505" cy="419100"/>
            <a:chOff x="0" y="0"/>
            <a:chExt cx="2339340" cy="558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39340" cy="558800"/>
            </a:xfrm>
            <a:custGeom>
              <a:avLst/>
              <a:gdLst/>
              <a:ahLst/>
              <a:cxnLst/>
              <a:rect r="r" b="b" t="t" l="l"/>
              <a:pathLst>
                <a:path h="558800" w="2339340">
                  <a:moveTo>
                    <a:pt x="0" y="0"/>
                  </a:moveTo>
                  <a:lnTo>
                    <a:pt x="2339340" y="0"/>
                  </a:lnTo>
                  <a:lnTo>
                    <a:pt x="2339340" y="558800"/>
                  </a:lnTo>
                  <a:lnTo>
                    <a:pt x="0" y="558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685800" y="547014"/>
            <a:ext cx="3405478" cy="239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2"/>
              </a:lnSpc>
            </a:pPr>
            <a:r>
              <a:rPr lang="en-US" sz="1344">
                <a:solidFill>
                  <a:srgbClr val="6FE7F2"/>
                </a:solidFill>
                <a:latin typeface="Arimo"/>
                <a:ea typeface="Arimo"/>
                <a:cs typeface="Arimo"/>
                <a:sym typeface="Arimo"/>
              </a:rPr>
              <a:t>FUNDAMENTOS DE DESENVOLVIMENTO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85800" y="975780"/>
            <a:ext cx="8289379" cy="1356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79"/>
              </a:lnSpc>
            </a:pPr>
            <a:r>
              <a:rPr lang="en-US" sz="355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 que é Git?</a:t>
            </a:r>
          </a:p>
          <a:p>
            <a:pPr algn="l">
              <a:lnSpc>
                <a:spcPts val="2060"/>
              </a:lnSpc>
            </a:pPr>
            <a:r>
              <a:rPr lang="en-US" sz="1472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Um sistema de controle de versão distribuído para acompanhar e organizar a evolução do código.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97134" y="2953462"/>
            <a:ext cx="2015604" cy="356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3"/>
              </a:lnSpc>
            </a:pPr>
            <a:r>
              <a:rPr lang="en-US" sz="2059">
                <a:solidFill>
                  <a:srgbClr val="6FE7F2"/>
                </a:solidFill>
                <a:latin typeface="Arimo"/>
                <a:ea typeface="Arimo"/>
                <a:cs typeface="Arimo"/>
                <a:sym typeface="Arimo"/>
              </a:rPr>
              <a:t>EM UMA FRASE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35105" y="3765292"/>
            <a:ext cx="9288861" cy="258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472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Você pode comparar versões, recuperar um estado anterior e trabalhar com segurança mesmo sem conexão.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35105" y="3223792"/>
            <a:ext cx="5213716" cy="576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87"/>
              </a:lnSpc>
            </a:pPr>
            <a:r>
              <a:rPr lang="en-US" sz="327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Git registra cada mudança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71550" y="5269900"/>
            <a:ext cx="1314965" cy="705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1"/>
              </a:lnSpc>
            </a:pPr>
            <a:r>
              <a:rPr lang="en-US" sz="1234">
                <a:solidFill>
                  <a:srgbClr val="6FE7F2"/>
                </a:solidFill>
                <a:latin typeface="Arimo"/>
                <a:ea typeface="Arimo"/>
                <a:cs typeface="Arimo"/>
                <a:sym typeface="Arimo"/>
              </a:rPr>
              <a:t>01</a:t>
            </a:r>
          </a:p>
          <a:p>
            <a:pPr algn="l">
              <a:lnSpc>
                <a:spcPts val="1851"/>
              </a:lnSpc>
            </a:pPr>
            <a:r>
              <a:rPr lang="en-US" sz="123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Histórico completo </a:t>
            </a:r>
            <a:r>
              <a:rPr lang="en-US" sz="1234">
                <a:solidFill>
                  <a:srgbClr val="B8C8EA"/>
                </a:solidFill>
                <a:latin typeface="Arimo"/>
                <a:ea typeface="Arimo"/>
                <a:cs typeface="Arimo"/>
                <a:sym typeface="Arimo"/>
              </a:rPr>
              <a:t>Nada se perde.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4494191" y="5226045"/>
            <a:ext cx="3203608" cy="420630"/>
            <a:chOff x="0" y="0"/>
            <a:chExt cx="1265623" cy="16617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65623" cy="166175"/>
            </a:xfrm>
            <a:custGeom>
              <a:avLst/>
              <a:gdLst/>
              <a:ahLst/>
              <a:cxnLst/>
              <a:rect r="r" b="b" t="t" l="l"/>
              <a:pathLst>
                <a:path h="166175" w="1265623">
                  <a:moveTo>
                    <a:pt x="26583" y="0"/>
                  </a:moveTo>
                  <a:lnTo>
                    <a:pt x="1239040" y="0"/>
                  </a:lnTo>
                  <a:cubicBezTo>
                    <a:pt x="1246090" y="0"/>
                    <a:pt x="1252852" y="2801"/>
                    <a:pt x="1257837" y="7786"/>
                  </a:cubicBezTo>
                  <a:cubicBezTo>
                    <a:pt x="1262822" y="12771"/>
                    <a:pt x="1265623" y="19533"/>
                    <a:pt x="1265623" y="26583"/>
                  </a:cubicBezTo>
                  <a:lnTo>
                    <a:pt x="1265623" y="139592"/>
                  </a:lnTo>
                  <a:cubicBezTo>
                    <a:pt x="1265623" y="146642"/>
                    <a:pt x="1262822" y="153403"/>
                    <a:pt x="1257837" y="158389"/>
                  </a:cubicBezTo>
                  <a:cubicBezTo>
                    <a:pt x="1252852" y="163374"/>
                    <a:pt x="1246090" y="166175"/>
                    <a:pt x="1239040" y="166175"/>
                  </a:cubicBezTo>
                  <a:lnTo>
                    <a:pt x="26583" y="166175"/>
                  </a:lnTo>
                  <a:cubicBezTo>
                    <a:pt x="19533" y="166175"/>
                    <a:pt x="12771" y="163374"/>
                    <a:pt x="7786" y="158389"/>
                  </a:cubicBezTo>
                  <a:cubicBezTo>
                    <a:pt x="2801" y="153403"/>
                    <a:pt x="0" y="146642"/>
                    <a:pt x="0" y="139592"/>
                  </a:cubicBezTo>
                  <a:lnTo>
                    <a:pt x="0" y="26583"/>
                  </a:lnTo>
                  <a:cubicBezTo>
                    <a:pt x="0" y="19533"/>
                    <a:pt x="2801" y="12771"/>
                    <a:pt x="7786" y="7786"/>
                  </a:cubicBezTo>
                  <a:cubicBezTo>
                    <a:pt x="12771" y="2801"/>
                    <a:pt x="19533" y="0"/>
                    <a:pt x="26583" y="0"/>
                  </a:cubicBezTo>
                  <a:close/>
                </a:path>
              </a:pathLst>
            </a:custGeom>
            <a:solidFill>
              <a:srgbClr val="122442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265623" cy="204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50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4552950" y="5221824"/>
            <a:ext cx="2643617" cy="686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5"/>
              </a:lnSpc>
            </a:pPr>
            <a:r>
              <a:rPr lang="en-US" sz="1230">
                <a:solidFill>
                  <a:srgbClr val="6FE7F2"/>
                </a:solidFill>
                <a:latin typeface="Arimo"/>
                <a:ea typeface="Arimo"/>
                <a:cs typeface="Arimo"/>
                <a:sym typeface="Arimo"/>
              </a:rPr>
              <a:t>02</a:t>
            </a:r>
          </a:p>
          <a:p>
            <a:pPr algn="l">
              <a:lnSpc>
                <a:spcPts val="1845"/>
              </a:lnSpc>
            </a:pPr>
            <a:r>
              <a:rPr lang="en-US" sz="123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Trabalho em paralelo </a:t>
            </a:r>
            <a:r>
              <a:rPr lang="en-US" sz="1230">
                <a:solidFill>
                  <a:srgbClr val="B8C8EA"/>
                </a:solidFill>
                <a:latin typeface="Arimo"/>
                <a:ea typeface="Arimo"/>
                <a:cs typeface="Arimo"/>
                <a:sym typeface="Arimo"/>
              </a:rPr>
              <a:t>Mais colaboração.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8078799" y="5226045"/>
            <a:ext cx="3200642" cy="420630"/>
            <a:chOff x="0" y="0"/>
            <a:chExt cx="1264451" cy="16617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64451" cy="166175"/>
            </a:xfrm>
            <a:custGeom>
              <a:avLst/>
              <a:gdLst/>
              <a:ahLst/>
              <a:cxnLst/>
              <a:rect r="r" b="b" t="t" l="l"/>
              <a:pathLst>
                <a:path h="166175" w="1264451">
                  <a:moveTo>
                    <a:pt x="26608" y="0"/>
                  </a:moveTo>
                  <a:lnTo>
                    <a:pt x="1237844" y="0"/>
                  </a:lnTo>
                  <a:cubicBezTo>
                    <a:pt x="1252539" y="0"/>
                    <a:pt x="1264451" y="11913"/>
                    <a:pt x="1264451" y="26608"/>
                  </a:cubicBezTo>
                  <a:lnTo>
                    <a:pt x="1264451" y="139567"/>
                  </a:lnTo>
                  <a:cubicBezTo>
                    <a:pt x="1264451" y="154262"/>
                    <a:pt x="1252539" y="166175"/>
                    <a:pt x="1237844" y="166175"/>
                  </a:cubicBezTo>
                  <a:lnTo>
                    <a:pt x="26608" y="166175"/>
                  </a:lnTo>
                  <a:cubicBezTo>
                    <a:pt x="11913" y="166175"/>
                    <a:pt x="0" y="154262"/>
                    <a:pt x="0" y="139567"/>
                  </a:cubicBezTo>
                  <a:lnTo>
                    <a:pt x="0" y="26608"/>
                  </a:lnTo>
                  <a:cubicBezTo>
                    <a:pt x="0" y="11913"/>
                    <a:pt x="11913" y="0"/>
                    <a:pt x="26608" y="0"/>
                  </a:cubicBezTo>
                  <a:close/>
                </a:path>
              </a:pathLst>
            </a:custGeom>
            <a:solidFill>
              <a:srgbClr val="122442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264451" cy="204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50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8135949" y="5221824"/>
            <a:ext cx="2527883" cy="686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5"/>
              </a:lnSpc>
            </a:pPr>
            <a:r>
              <a:rPr lang="en-US" sz="1230">
                <a:solidFill>
                  <a:srgbClr val="6FE7F2"/>
                </a:solidFill>
                <a:latin typeface="Arimo"/>
                <a:ea typeface="Arimo"/>
                <a:cs typeface="Arimo"/>
                <a:sym typeface="Arimo"/>
              </a:rPr>
              <a:t>03</a:t>
            </a:r>
          </a:p>
          <a:p>
            <a:pPr algn="l">
              <a:lnSpc>
                <a:spcPts val="1845"/>
              </a:lnSpc>
            </a:pPr>
            <a:r>
              <a:rPr lang="en-US" sz="123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Distribuído e offline </a:t>
            </a:r>
            <a:r>
              <a:rPr lang="en-US" sz="1230">
                <a:solidFill>
                  <a:srgbClr val="B8C8EA"/>
                </a:solidFill>
                <a:latin typeface="Arimo"/>
                <a:ea typeface="Arimo"/>
                <a:cs typeface="Arimo"/>
                <a:sym typeface="Arimo"/>
              </a:rPr>
              <a:t>Código sempre acessível.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71550" y="6600044"/>
            <a:ext cx="2466823" cy="123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"/>
              </a:lnSpc>
            </a:pPr>
            <a:r>
              <a:rPr lang="en-US" sz="699">
                <a:solidFill>
                  <a:srgbClr val="7E91B8"/>
                </a:solidFill>
                <a:latin typeface="Arimo"/>
                <a:ea typeface="Arimo"/>
                <a:cs typeface="Arimo"/>
                <a:sym typeface="Arimo"/>
              </a:rPr>
              <a:t>Criado por Linus Torvalds em 2005 · rápido, seguro e gratuito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605946" y="6276468"/>
            <a:ext cx="5558704" cy="1304925"/>
            <a:chOff x="0" y="0"/>
            <a:chExt cx="5558704" cy="130492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558704" cy="1304925"/>
            </a:xfrm>
            <a:custGeom>
              <a:avLst/>
              <a:gdLst/>
              <a:ahLst/>
              <a:cxnLst/>
              <a:rect r="r" b="b" t="t" l="l"/>
              <a:pathLst>
                <a:path h="1304925" w="5558704">
                  <a:moveTo>
                    <a:pt x="0" y="0"/>
                  </a:moveTo>
                  <a:lnTo>
                    <a:pt x="0" y="1304925"/>
                  </a:lnTo>
                  <a:lnTo>
                    <a:pt x="5558704" y="1304925"/>
                  </a:lnTo>
                  <a:lnTo>
                    <a:pt x="5558704" y="0"/>
                  </a:lnTo>
                  <a:close/>
                </a:path>
              </a:pathLst>
            </a:custGeom>
            <a:solidFill>
              <a:srgbClr val="405FB2"/>
            </a:solidFill>
          </p:spPr>
        </p:sp>
      </p:grpSp>
    </p:spTree>
  </p:cSld>
  <p:clrMapOvr>
    <a:masterClrMapping/>
  </p:clrMapOvr>
  <p:transition spd="fast">
    <p:circl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05F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57400" y="2362200"/>
            <a:ext cx="8077200" cy="2133600"/>
            <a:chOff x="0" y="0"/>
            <a:chExt cx="10769600" cy="284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769600" cy="2844800"/>
            </a:xfrm>
            <a:custGeom>
              <a:avLst/>
              <a:gdLst/>
              <a:ahLst/>
              <a:cxnLst/>
              <a:rect r="r" b="b" t="t" l="l"/>
              <a:pathLst>
                <a:path h="2844800" w="10769600">
                  <a:moveTo>
                    <a:pt x="27940" y="0"/>
                  </a:moveTo>
                  <a:cubicBezTo>
                    <a:pt x="20193" y="0"/>
                    <a:pt x="13589" y="2667"/>
                    <a:pt x="8128" y="8128"/>
                  </a:cubicBezTo>
                  <a:cubicBezTo>
                    <a:pt x="2667" y="13589"/>
                    <a:pt x="0" y="20193"/>
                    <a:pt x="0" y="27940"/>
                  </a:cubicBezTo>
                  <a:lnTo>
                    <a:pt x="0" y="2816860"/>
                  </a:lnTo>
                  <a:cubicBezTo>
                    <a:pt x="0" y="2824607"/>
                    <a:pt x="2667" y="2831211"/>
                    <a:pt x="8128" y="2836672"/>
                  </a:cubicBezTo>
                  <a:cubicBezTo>
                    <a:pt x="13589" y="2842133"/>
                    <a:pt x="20193" y="2844800"/>
                    <a:pt x="27940" y="2844800"/>
                  </a:cubicBezTo>
                  <a:lnTo>
                    <a:pt x="10741660" y="2844800"/>
                  </a:lnTo>
                  <a:cubicBezTo>
                    <a:pt x="10749407" y="2844800"/>
                    <a:pt x="10756011" y="2842133"/>
                    <a:pt x="10761472" y="2836672"/>
                  </a:cubicBezTo>
                  <a:cubicBezTo>
                    <a:pt x="10766933" y="2831211"/>
                    <a:pt x="10769600" y="2824607"/>
                    <a:pt x="10769600" y="2816860"/>
                  </a:cubicBezTo>
                  <a:lnTo>
                    <a:pt x="10769600" y="27940"/>
                  </a:lnTo>
                  <a:cubicBezTo>
                    <a:pt x="10769600" y="20193"/>
                    <a:pt x="10766933" y="13589"/>
                    <a:pt x="10761472" y="8128"/>
                  </a:cubicBezTo>
                  <a:cubicBezTo>
                    <a:pt x="10756011" y="2667"/>
                    <a:pt x="10749407" y="0"/>
                    <a:pt x="1074166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477500" y="6200775"/>
            <a:ext cx="1714500" cy="657225"/>
            <a:chOff x="0" y="0"/>
            <a:chExt cx="1714500" cy="65722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14500" cy="657225"/>
            </a:xfrm>
            <a:custGeom>
              <a:avLst/>
              <a:gdLst/>
              <a:ahLst/>
              <a:cxnLst/>
              <a:rect r="r" b="b" t="t" l="l"/>
              <a:pathLst>
                <a:path h="657225" w="1714500">
                  <a:moveTo>
                    <a:pt x="0" y="0"/>
                  </a:moveTo>
                  <a:lnTo>
                    <a:pt x="0" y="657225"/>
                  </a:lnTo>
                  <a:lnTo>
                    <a:pt x="1714500" y="657225"/>
                  </a:lnTo>
                  <a:lnTo>
                    <a:pt x="1714500" y="0"/>
                  </a:lnTo>
                  <a:close/>
                </a:path>
              </a:pathLst>
            </a:custGeom>
            <a:solidFill>
              <a:srgbClr val="100C35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342245" y="6343650"/>
            <a:ext cx="1754505" cy="419100"/>
            <a:chOff x="0" y="0"/>
            <a:chExt cx="2339340" cy="558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39340" cy="558800"/>
            </a:xfrm>
            <a:custGeom>
              <a:avLst/>
              <a:gdLst/>
              <a:ahLst/>
              <a:cxnLst/>
              <a:rect r="r" b="b" t="t" l="l"/>
              <a:pathLst>
                <a:path h="558800" w="2339340">
                  <a:moveTo>
                    <a:pt x="0" y="0"/>
                  </a:moveTo>
                  <a:lnTo>
                    <a:pt x="2339340" y="0"/>
                  </a:lnTo>
                  <a:lnTo>
                    <a:pt x="2339340" y="558800"/>
                  </a:lnTo>
                  <a:lnTo>
                    <a:pt x="0" y="558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549373" y="336694"/>
            <a:ext cx="5466147" cy="725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00"/>
              </a:lnSpc>
            </a:pPr>
            <a:r>
              <a:rPr lang="en-US" sz="4143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Como o Git funciona?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98428" y="1324430"/>
            <a:ext cx="50946" cy="261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8"/>
              </a:lnSpc>
            </a:pP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67763" y="1242986"/>
            <a:ext cx="10838437" cy="890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5"/>
              </a:lnSpc>
            </a:pPr>
            <a:r>
              <a:rPr lang="en-US" sz="1711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O fluxo do Git segue uma sequência lógica: você edita seus arquivos, prepara as mudanças, registra um ponto no histórico e, por fim, sincroniza com o repositório remoto. Cada etapa tem um propósito claro no processo de versionamento.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59736" y="5594196"/>
            <a:ext cx="10713071" cy="606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668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Cada </a:t>
            </a:r>
            <a:r>
              <a:rPr lang="en-US" b="true" sz="1668">
                <a:solidFill>
                  <a:srgbClr val="D9E1FF"/>
                </a:solidFill>
                <a:latin typeface="Arimo Bold"/>
                <a:ea typeface="Arimo Bold"/>
                <a:cs typeface="Arimo Bold"/>
                <a:sym typeface="Arimo Bold"/>
              </a:rPr>
              <a:t>commit </a:t>
            </a:r>
            <a:r>
              <a:rPr lang="en-US" sz="1668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é como um "save" no jogo: você pode voltar a qualquer ponto anterior com segurança. O </a:t>
            </a:r>
            <a:r>
              <a:rPr lang="en-US" b="true" sz="1668">
                <a:solidFill>
                  <a:srgbClr val="D9E1FF"/>
                </a:solidFill>
                <a:latin typeface="Arimo Bold"/>
                <a:ea typeface="Arimo Bold"/>
                <a:cs typeface="Arimo Bold"/>
                <a:sym typeface="Arimo Bold"/>
              </a:rPr>
              <a:t>git push </a:t>
            </a:r>
            <a:r>
              <a:rPr lang="en-US" sz="1668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envia esses saves para a nuvem, onde toda a equipe pode acessá-los.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630405" y="4658987"/>
            <a:ext cx="971848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700">
                <a:solidFill>
                  <a:srgbClr val="D9E1FF"/>
                </a:solidFill>
                <a:latin typeface="Arimo Bold"/>
                <a:ea typeface="Arimo Bold"/>
                <a:cs typeface="Arimo Bold"/>
                <a:sym typeface="Arimo Bold"/>
              </a:rPr>
              <a:t>Editar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553283" y="4649462"/>
            <a:ext cx="1181137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700">
                <a:solidFill>
                  <a:srgbClr val="D9E1FF"/>
                </a:solidFill>
                <a:latin typeface="Arimo Bold"/>
                <a:ea typeface="Arimo Bold"/>
                <a:cs typeface="Arimo Bold"/>
                <a:sym typeface="Arimo Bold"/>
              </a:rPr>
              <a:t>G</a:t>
            </a:r>
            <a:r>
              <a:rPr lang="en-US" b="true" sz="2700">
                <a:solidFill>
                  <a:srgbClr val="D9E1FF"/>
                </a:solidFill>
                <a:latin typeface="Arimo Bold"/>
                <a:ea typeface="Arimo Bold"/>
                <a:cs typeface="Arimo Bold"/>
                <a:sym typeface="Arimo Bold"/>
              </a:rPr>
              <a:t>it add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435989" y="4649462"/>
            <a:ext cx="1276387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700">
                <a:solidFill>
                  <a:srgbClr val="D9E1FF"/>
                </a:solidFill>
                <a:latin typeface="Arimo Bold"/>
                <a:ea typeface="Arimo Bold"/>
                <a:cs typeface="Arimo Bold"/>
                <a:sym typeface="Arimo Bold"/>
              </a:rPr>
              <a:t>Commit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417227" y="4658987"/>
            <a:ext cx="1390613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700">
                <a:solidFill>
                  <a:srgbClr val="D9E1FF"/>
                </a:solidFill>
                <a:latin typeface="Arimo Bold"/>
                <a:ea typeface="Arimo Bold"/>
                <a:cs typeface="Arimo Bold"/>
                <a:sym typeface="Arimo Bold"/>
              </a:rPr>
              <a:t>G</a:t>
            </a:r>
            <a:r>
              <a:rPr lang="en-US" b="true" sz="2700">
                <a:solidFill>
                  <a:srgbClr val="D9E1FF"/>
                </a:solidFill>
                <a:latin typeface="Arimo Bold"/>
                <a:ea typeface="Arimo Bold"/>
                <a:cs typeface="Arimo Bold"/>
                <a:sym typeface="Arimo Bold"/>
              </a:rPr>
              <a:t>it push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342245" y="6027320"/>
            <a:ext cx="5558704" cy="1304925"/>
            <a:chOff x="0" y="0"/>
            <a:chExt cx="5558704" cy="130492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558704" cy="1304925"/>
            </a:xfrm>
            <a:custGeom>
              <a:avLst/>
              <a:gdLst/>
              <a:ahLst/>
              <a:cxnLst/>
              <a:rect r="r" b="b" t="t" l="l"/>
              <a:pathLst>
                <a:path h="1304925" w="5558704">
                  <a:moveTo>
                    <a:pt x="0" y="0"/>
                  </a:moveTo>
                  <a:lnTo>
                    <a:pt x="0" y="1304925"/>
                  </a:lnTo>
                  <a:lnTo>
                    <a:pt x="5558704" y="1304925"/>
                  </a:lnTo>
                  <a:lnTo>
                    <a:pt x="5558704" y="0"/>
                  </a:lnTo>
                  <a:close/>
                </a:path>
              </a:pathLst>
            </a:custGeom>
            <a:solidFill>
              <a:srgbClr val="405FB2"/>
            </a:solidFill>
          </p:spPr>
        </p:sp>
      </p:grpSp>
    </p:spTree>
  </p:cSld>
  <p:clrMapOvr>
    <a:masterClrMapping/>
  </p:clrMapOvr>
  <p:transition spd="med">
    <p:cover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86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95325" y="1419225"/>
            <a:ext cx="6877050" cy="4724400"/>
            <a:chOff x="0" y="0"/>
            <a:chExt cx="9169400" cy="6299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69400" cy="6299073"/>
            </a:xfrm>
            <a:custGeom>
              <a:avLst/>
              <a:gdLst/>
              <a:ahLst/>
              <a:cxnLst/>
              <a:rect r="r" b="b" t="t" l="l"/>
              <a:pathLst>
                <a:path h="6299073" w="9169400">
                  <a:moveTo>
                    <a:pt x="27940" y="0"/>
                  </a:moveTo>
                  <a:cubicBezTo>
                    <a:pt x="20193" y="0"/>
                    <a:pt x="13589" y="2667"/>
                    <a:pt x="8128" y="8128"/>
                  </a:cubicBezTo>
                  <a:cubicBezTo>
                    <a:pt x="2667" y="13589"/>
                    <a:pt x="0" y="20193"/>
                    <a:pt x="0" y="27940"/>
                  </a:cubicBezTo>
                  <a:lnTo>
                    <a:pt x="0" y="6271260"/>
                  </a:lnTo>
                  <a:cubicBezTo>
                    <a:pt x="0" y="6279007"/>
                    <a:pt x="2794" y="6285484"/>
                    <a:pt x="8128" y="6290945"/>
                  </a:cubicBezTo>
                  <a:cubicBezTo>
                    <a:pt x="13462" y="6296406"/>
                    <a:pt x="20193" y="6299073"/>
                    <a:pt x="27940" y="6299073"/>
                  </a:cubicBezTo>
                  <a:lnTo>
                    <a:pt x="9141460" y="6299073"/>
                  </a:lnTo>
                  <a:cubicBezTo>
                    <a:pt x="9149207" y="6299073"/>
                    <a:pt x="9155811" y="6296406"/>
                    <a:pt x="9161272" y="6290945"/>
                  </a:cubicBezTo>
                  <a:cubicBezTo>
                    <a:pt x="9166733" y="6285484"/>
                    <a:pt x="9169400" y="6278880"/>
                    <a:pt x="9169400" y="6271133"/>
                  </a:cubicBezTo>
                  <a:lnTo>
                    <a:pt x="9169400" y="27940"/>
                  </a:lnTo>
                  <a:cubicBezTo>
                    <a:pt x="9169400" y="20193"/>
                    <a:pt x="9166733" y="13589"/>
                    <a:pt x="9161272" y="8128"/>
                  </a:cubicBezTo>
                  <a:cubicBezTo>
                    <a:pt x="9155811" y="2667"/>
                    <a:pt x="9149207" y="0"/>
                    <a:pt x="914146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-2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7840802" y="4789159"/>
            <a:ext cx="3788113" cy="1173491"/>
          </a:xfrm>
          <a:custGeom>
            <a:avLst/>
            <a:gdLst/>
            <a:ahLst/>
            <a:cxnLst/>
            <a:rect r="r" b="b" t="t" l="l"/>
            <a:pathLst>
              <a:path h="1173491" w="3788113">
                <a:moveTo>
                  <a:pt x="0" y="0"/>
                </a:moveTo>
                <a:lnTo>
                  <a:pt x="3788113" y="0"/>
                </a:lnTo>
                <a:lnTo>
                  <a:pt x="3788113" y="1173491"/>
                </a:lnTo>
                <a:lnTo>
                  <a:pt x="0" y="11734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840802" y="2988106"/>
            <a:ext cx="68962" cy="68962"/>
          </a:xfrm>
          <a:custGeom>
            <a:avLst/>
            <a:gdLst/>
            <a:ahLst/>
            <a:cxnLst/>
            <a:rect r="r" b="b" t="t" l="l"/>
            <a:pathLst>
              <a:path h="68962" w="68962">
                <a:moveTo>
                  <a:pt x="0" y="0"/>
                </a:moveTo>
                <a:lnTo>
                  <a:pt x="68962" y="0"/>
                </a:lnTo>
                <a:lnTo>
                  <a:pt x="68962" y="68961"/>
                </a:lnTo>
                <a:lnTo>
                  <a:pt x="0" y="6896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840802" y="3551295"/>
            <a:ext cx="68962" cy="68962"/>
          </a:xfrm>
          <a:custGeom>
            <a:avLst/>
            <a:gdLst/>
            <a:ahLst/>
            <a:cxnLst/>
            <a:rect r="r" b="b" t="t" l="l"/>
            <a:pathLst>
              <a:path h="68962" w="68962">
                <a:moveTo>
                  <a:pt x="0" y="0"/>
                </a:moveTo>
                <a:lnTo>
                  <a:pt x="68962" y="0"/>
                </a:lnTo>
                <a:lnTo>
                  <a:pt x="68962" y="68962"/>
                </a:lnTo>
                <a:lnTo>
                  <a:pt x="0" y="689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840802" y="4125977"/>
            <a:ext cx="68962" cy="68962"/>
          </a:xfrm>
          <a:custGeom>
            <a:avLst/>
            <a:gdLst/>
            <a:ahLst/>
            <a:cxnLst/>
            <a:rect r="r" b="b" t="t" l="l"/>
            <a:pathLst>
              <a:path h="68962" w="68962">
                <a:moveTo>
                  <a:pt x="0" y="0"/>
                </a:moveTo>
                <a:lnTo>
                  <a:pt x="68962" y="0"/>
                </a:lnTo>
                <a:lnTo>
                  <a:pt x="68962" y="68962"/>
                </a:lnTo>
                <a:lnTo>
                  <a:pt x="0" y="689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8015797" y="5036209"/>
            <a:ext cx="226463" cy="174994"/>
            <a:chOff x="0" y="0"/>
            <a:chExt cx="279400" cy="2159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9400" cy="215900"/>
            </a:xfrm>
            <a:custGeom>
              <a:avLst/>
              <a:gdLst/>
              <a:ahLst/>
              <a:cxnLst/>
              <a:rect r="r" b="b" t="t" l="l"/>
              <a:pathLst>
                <a:path h="215900" w="279400">
                  <a:moveTo>
                    <a:pt x="27940" y="0"/>
                  </a:moveTo>
                  <a:cubicBezTo>
                    <a:pt x="20193" y="0"/>
                    <a:pt x="13589" y="2667"/>
                    <a:pt x="8128" y="8128"/>
                  </a:cubicBezTo>
                  <a:cubicBezTo>
                    <a:pt x="2667" y="13589"/>
                    <a:pt x="0" y="20193"/>
                    <a:pt x="0" y="27940"/>
                  </a:cubicBezTo>
                  <a:lnTo>
                    <a:pt x="0" y="187960"/>
                  </a:lnTo>
                  <a:cubicBezTo>
                    <a:pt x="0" y="195707"/>
                    <a:pt x="2667" y="202311"/>
                    <a:pt x="8128" y="207772"/>
                  </a:cubicBezTo>
                  <a:cubicBezTo>
                    <a:pt x="13589" y="213233"/>
                    <a:pt x="20193" y="215900"/>
                    <a:pt x="27940" y="215900"/>
                  </a:cubicBezTo>
                  <a:lnTo>
                    <a:pt x="251460" y="215900"/>
                  </a:lnTo>
                  <a:cubicBezTo>
                    <a:pt x="259207" y="215900"/>
                    <a:pt x="265811" y="213233"/>
                    <a:pt x="271272" y="207772"/>
                  </a:cubicBezTo>
                  <a:cubicBezTo>
                    <a:pt x="276733" y="202311"/>
                    <a:pt x="279400" y="195707"/>
                    <a:pt x="279400" y="187960"/>
                  </a:cubicBezTo>
                  <a:lnTo>
                    <a:pt x="279400" y="27940"/>
                  </a:lnTo>
                  <a:cubicBezTo>
                    <a:pt x="279400" y="20193"/>
                    <a:pt x="276733" y="13589"/>
                    <a:pt x="271272" y="8128"/>
                  </a:cubicBezTo>
                  <a:cubicBezTo>
                    <a:pt x="265811" y="2667"/>
                    <a:pt x="259207" y="0"/>
                    <a:pt x="251460" y="0"/>
                  </a:cubicBezTo>
                  <a:close/>
                </a:path>
              </a:pathLst>
            </a:custGeom>
            <a:blipFill>
              <a:blip r:embed="rId9"/>
              <a:stretch>
                <a:fillRect l="0" t="-2676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458450" y="5962650"/>
            <a:ext cx="1733550" cy="895350"/>
            <a:chOff x="0" y="0"/>
            <a:chExt cx="1733550" cy="8953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33550" cy="895350"/>
            </a:xfrm>
            <a:custGeom>
              <a:avLst/>
              <a:gdLst/>
              <a:ahLst/>
              <a:cxnLst/>
              <a:rect r="r" b="b" t="t" l="l"/>
              <a:pathLst>
                <a:path h="895350" w="1733550">
                  <a:moveTo>
                    <a:pt x="0" y="0"/>
                  </a:moveTo>
                  <a:lnTo>
                    <a:pt x="0" y="895350"/>
                  </a:lnTo>
                  <a:lnTo>
                    <a:pt x="1733550" y="895350"/>
                  </a:lnTo>
                  <a:lnTo>
                    <a:pt x="1733550" y="0"/>
                  </a:lnTo>
                  <a:close/>
                </a:path>
              </a:pathLst>
            </a:custGeom>
            <a:solidFill>
              <a:srgbClr val="100C35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342245" y="6343650"/>
            <a:ext cx="1754505" cy="419100"/>
            <a:chOff x="0" y="0"/>
            <a:chExt cx="2339340" cy="558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39340" cy="558800"/>
            </a:xfrm>
            <a:custGeom>
              <a:avLst/>
              <a:gdLst/>
              <a:ahLst/>
              <a:cxnLst/>
              <a:rect r="r" b="b" t="t" l="l"/>
              <a:pathLst>
                <a:path h="558800" w="2339340">
                  <a:moveTo>
                    <a:pt x="0" y="0"/>
                  </a:moveTo>
                  <a:lnTo>
                    <a:pt x="2339340" y="0"/>
                  </a:lnTo>
                  <a:lnTo>
                    <a:pt x="2339340" y="558800"/>
                  </a:lnTo>
                  <a:lnTo>
                    <a:pt x="0" y="558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685800" y="280569"/>
            <a:ext cx="3901308" cy="715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31"/>
              </a:lnSpc>
            </a:pPr>
            <a:r>
              <a:rPr lang="en-US" sz="4093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 que é GitHub?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840802" y="1451372"/>
            <a:ext cx="2935517" cy="345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7"/>
              </a:lnSpc>
            </a:pPr>
            <a:r>
              <a:rPr lang="en-US" sz="186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Plataforma de Colaboração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989699" y="1866032"/>
            <a:ext cx="44844" cy="288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3"/>
              </a:lnSpc>
            </a:pPr>
            <a:r>
              <a:rPr lang="en-US" b="true" sz="1545">
                <a:solidFill>
                  <a:srgbClr val="D9E1FF"/>
                </a:solidFill>
                <a:latin typeface="Martel Semi-Bold"/>
                <a:ea typeface="Martel Semi-Bold"/>
                <a:cs typeface="Martel Semi-Bold"/>
                <a:sym typeface="Martel Semi-Bold"/>
              </a:rPr>
              <a:t>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428516" y="4863539"/>
            <a:ext cx="2898431" cy="783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6"/>
              </a:lnSpc>
            </a:pPr>
            <a:r>
              <a:rPr lang="en-US" b="true" sz="1372">
                <a:solidFill>
                  <a:srgbClr val="FFFFFF"/>
                </a:solidFill>
                <a:latin typeface="Martel Bold"/>
                <a:ea typeface="Martel Bold"/>
                <a:cs typeface="Martel Bold"/>
                <a:sym typeface="Martel Bold"/>
              </a:rPr>
              <a:t>Git ≠ GitHub: </a:t>
            </a:r>
            <a:r>
              <a:rPr lang="en-US" b="true" sz="1372">
                <a:solidFill>
                  <a:srgbClr val="FFFFFF"/>
                </a:solidFill>
                <a:latin typeface="Martel Semi-Bold"/>
                <a:ea typeface="Martel Semi-Bold"/>
                <a:cs typeface="Martel Semi-Bold"/>
                <a:sym typeface="Martel Semi-Bold"/>
              </a:rPr>
              <a:t>Git é a ferramenta local; GitHub é o servidor remoto que armazena os projetos.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840802" y="1866032"/>
            <a:ext cx="4351198" cy="288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3"/>
              </a:lnSpc>
            </a:pPr>
            <a:r>
              <a:rPr lang="en-US" b="true" sz="1545">
                <a:solidFill>
                  <a:srgbClr val="D9E1FF"/>
                </a:solidFill>
                <a:latin typeface="Martel Semi-Bold"/>
                <a:ea typeface="Martel Semi-Bold"/>
                <a:cs typeface="Martel Semi-Bold"/>
                <a:sym typeface="Martel Semi-Bold"/>
              </a:rPr>
              <a:t>OGitHub éumaplataformaonline que usa 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840802" y="2133964"/>
            <a:ext cx="4206672" cy="588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2"/>
              </a:lnSpc>
            </a:pPr>
            <a:r>
              <a:rPr lang="en-US" b="true" sz="1545">
                <a:solidFill>
                  <a:srgbClr val="D9E1FF"/>
                </a:solidFill>
                <a:latin typeface="Martel Semi-Bold"/>
                <a:ea typeface="Martel Semi-Bold"/>
                <a:cs typeface="Martel Semi-Bold"/>
                <a:sym typeface="Martel Semi-Bold"/>
              </a:rPr>
              <a:t>Git para </a:t>
            </a:r>
            <a:r>
              <a:rPr lang="en-US" b="true" sz="1545">
                <a:solidFill>
                  <a:srgbClr val="D9E1FF"/>
                </a:solidFill>
                <a:latin typeface="Martel Bold"/>
                <a:ea typeface="Martel Bold"/>
                <a:cs typeface="Martel Bold"/>
                <a:sym typeface="Martel Bold"/>
              </a:rPr>
              <a:t>hospedar repositórios </a:t>
            </a:r>
            <a:r>
              <a:rPr lang="en-US" b="true" sz="1545">
                <a:solidFill>
                  <a:srgbClr val="D9E1FF"/>
                </a:solidFill>
                <a:latin typeface="Martel Semi-Bold"/>
                <a:ea typeface="Martel Semi-Bold"/>
                <a:cs typeface="Martel Semi-Bold"/>
                <a:sym typeface="Martel Semi-Bold"/>
              </a:rPr>
              <a:t>e facilitar o trabalho em equipe.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033505" y="2822736"/>
            <a:ext cx="3841168" cy="1721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1"/>
              </a:lnSpc>
            </a:pPr>
            <a:r>
              <a:rPr lang="en-US" b="true" sz="1532">
                <a:solidFill>
                  <a:srgbClr val="D9E1FF"/>
                </a:solidFill>
                <a:latin typeface="Martel Bold"/>
                <a:ea typeface="Martel Bold"/>
                <a:cs typeface="Martel Bold"/>
                <a:sym typeface="Martel Bold"/>
              </a:rPr>
              <a:t>Repositórios: </a:t>
            </a:r>
            <a:r>
              <a:rPr lang="en-US" b="true" sz="1532">
                <a:solidFill>
                  <a:srgbClr val="D9E1FF"/>
                </a:solidFill>
                <a:latin typeface="Martel Semi-Bold"/>
                <a:ea typeface="Martel Semi-Bold"/>
                <a:cs typeface="Martel Semi-Bold"/>
                <a:sym typeface="Martel Semi-Bold"/>
              </a:rPr>
              <a:t>pastas de projeto na nuvem</a:t>
            </a:r>
          </a:p>
          <a:p>
            <a:pPr algn="l">
              <a:lnSpc>
                <a:spcPts val="2201"/>
              </a:lnSpc>
            </a:pPr>
            <a:r>
              <a:rPr lang="en-US" b="true" sz="1532">
                <a:solidFill>
                  <a:srgbClr val="D9E1FF"/>
                </a:solidFill>
                <a:latin typeface="Martel Bold"/>
                <a:ea typeface="Martel Bold"/>
                <a:cs typeface="Martel Bold"/>
                <a:sym typeface="Martel Bold"/>
              </a:rPr>
              <a:t>Colaboração: </a:t>
            </a:r>
            <a:r>
              <a:rPr lang="en-US" b="true" sz="1532">
                <a:solidFill>
                  <a:srgbClr val="D9E1FF"/>
                </a:solidFill>
                <a:latin typeface="Martel Semi-Bold"/>
                <a:ea typeface="Martel Semi-Bold"/>
                <a:cs typeface="Martel Semi-Bold"/>
                <a:sym typeface="Martel Semi-Bold"/>
              </a:rPr>
              <a:t>várias pessoas no mesmo</a:t>
            </a:r>
          </a:p>
          <a:p>
            <a:pPr algn="l">
              <a:lnSpc>
                <a:spcPts val="2443"/>
              </a:lnSpc>
            </a:pPr>
            <a:r>
              <a:rPr lang="en-US" b="true" sz="1532">
                <a:solidFill>
                  <a:srgbClr val="D9E1FF"/>
                </a:solidFill>
                <a:latin typeface="Martel Semi-Bold"/>
                <a:ea typeface="Martel Semi-Bold"/>
                <a:cs typeface="Martel Semi-Bold"/>
                <a:sym typeface="Martel Semi-Bold"/>
              </a:rPr>
              <a:t>projeto</a:t>
            </a:r>
          </a:p>
          <a:p>
            <a:pPr algn="l">
              <a:lnSpc>
                <a:spcPts val="2082"/>
              </a:lnSpc>
            </a:pPr>
            <a:r>
              <a:rPr lang="en-US" b="true" sz="1532">
                <a:solidFill>
                  <a:srgbClr val="D9E1FF"/>
                </a:solidFill>
                <a:latin typeface="Martel Bold"/>
                <a:ea typeface="Martel Bold"/>
                <a:cs typeface="Martel Bold"/>
                <a:sym typeface="Martel Bold"/>
              </a:rPr>
              <a:t>Portfólio: </a:t>
            </a:r>
            <a:r>
              <a:rPr lang="en-US" b="true" sz="1532">
                <a:solidFill>
                  <a:srgbClr val="D9E1FF"/>
                </a:solidFill>
                <a:latin typeface="Martel Semi-Bold"/>
                <a:ea typeface="Martel Semi-Bold"/>
                <a:cs typeface="Martel Semi-Bold"/>
                <a:sym typeface="Martel Semi-Bold"/>
              </a:rPr>
              <a:t>mostre seu trabalho para</a:t>
            </a:r>
          </a:p>
          <a:p>
            <a:pPr algn="l">
              <a:lnSpc>
                <a:spcPts val="2443"/>
              </a:lnSpc>
            </a:pPr>
            <a:r>
              <a:rPr lang="en-US" b="true" sz="1532">
                <a:solidFill>
                  <a:srgbClr val="D9E1FF"/>
                </a:solidFill>
                <a:latin typeface="Martel Semi-Bold"/>
                <a:ea typeface="Martel Semi-Bold"/>
                <a:cs typeface="Martel Semi-Bold"/>
                <a:sym typeface="Martel Semi-Bold"/>
              </a:rPr>
              <a:t>recrutadores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775922" y="5962650"/>
            <a:ext cx="5558704" cy="1304925"/>
            <a:chOff x="0" y="0"/>
            <a:chExt cx="5558704" cy="130492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558704" cy="1304925"/>
            </a:xfrm>
            <a:custGeom>
              <a:avLst/>
              <a:gdLst/>
              <a:ahLst/>
              <a:cxnLst/>
              <a:rect r="r" b="b" t="t" l="l"/>
              <a:pathLst>
                <a:path h="1304925" w="5558704">
                  <a:moveTo>
                    <a:pt x="0" y="0"/>
                  </a:moveTo>
                  <a:lnTo>
                    <a:pt x="0" y="1304925"/>
                  </a:lnTo>
                  <a:lnTo>
                    <a:pt x="5558704" y="1304925"/>
                  </a:lnTo>
                  <a:lnTo>
                    <a:pt x="5558704" y="0"/>
                  </a:lnTo>
                  <a:close/>
                </a:path>
              </a:pathLst>
            </a:custGeom>
            <a:solidFill>
              <a:srgbClr val="5865F2"/>
            </a:solidFill>
          </p:spPr>
        </p:sp>
      </p:grpSp>
    </p:spTree>
  </p:cSld>
  <p:clrMapOvr>
    <a:masterClrMapping/>
  </p:clrMapOvr>
  <p:transition spd="med">
    <p:circl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42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498" y="-63498"/>
            <a:ext cx="12318997" cy="6984997"/>
            <a:chOff x="0" y="0"/>
            <a:chExt cx="12319000" cy="6985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63500"/>
              <a:ext cx="12192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12192000">
                  <a:moveTo>
                    <a:pt x="0" y="6829425"/>
                  </a:moveTo>
                  <a:lnTo>
                    <a:pt x="0" y="28575"/>
                  </a:ln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lnTo>
                    <a:pt x="12163425" y="0"/>
                  </a:lnTo>
                  <a:cubicBezTo>
                    <a:pt x="12167235" y="0"/>
                    <a:pt x="12170918" y="762"/>
                    <a:pt x="12174347" y="2159"/>
                  </a:cubicBezTo>
                  <a:cubicBezTo>
                    <a:pt x="12177776" y="3556"/>
                    <a:pt x="12180951" y="5715"/>
                    <a:pt x="12183618" y="8382"/>
                  </a:cubicBezTo>
                  <a:cubicBezTo>
                    <a:pt x="12186285" y="11049"/>
                    <a:pt x="12188317" y="14097"/>
                    <a:pt x="12189841" y="17653"/>
                  </a:cubicBezTo>
                  <a:cubicBezTo>
                    <a:pt x="12191365" y="21209"/>
                    <a:pt x="12192000" y="24765"/>
                    <a:pt x="12192000" y="28575"/>
                  </a:cubicBezTo>
                  <a:lnTo>
                    <a:pt x="12192000" y="6829425"/>
                  </a:lnTo>
                  <a:cubicBezTo>
                    <a:pt x="12192000" y="6833235"/>
                    <a:pt x="12191238" y="6836918"/>
                    <a:pt x="12189841" y="6840347"/>
                  </a:cubicBezTo>
                  <a:cubicBezTo>
                    <a:pt x="12188444" y="6843776"/>
                    <a:pt x="12186285" y="6846951"/>
                    <a:pt x="12183618" y="6849618"/>
                  </a:cubicBezTo>
                  <a:cubicBezTo>
                    <a:pt x="12180951" y="6852285"/>
                    <a:pt x="12177903" y="6854317"/>
                    <a:pt x="12174347" y="6855841"/>
                  </a:cubicBezTo>
                  <a:cubicBezTo>
                    <a:pt x="12170791" y="6857365"/>
                    <a:pt x="12167235" y="6858000"/>
                    <a:pt x="12163425" y="6858000"/>
                  </a:cubicBezTo>
                  <a:lnTo>
                    <a:pt x="28575" y="6858000"/>
                  </a:lnTo>
                  <a:cubicBezTo>
                    <a:pt x="24765" y="6858000"/>
                    <a:pt x="21082" y="6857238"/>
                    <a:pt x="17653" y="6855841"/>
                  </a:cubicBezTo>
                  <a:cubicBezTo>
                    <a:pt x="14224" y="6854444"/>
                    <a:pt x="11049" y="6852285"/>
                    <a:pt x="8382" y="6849618"/>
                  </a:cubicBezTo>
                  <a:cubicBezTo>
                    <a:pt x="5715" y="6846951"/>
                    <a:pt x="3683" y="6843903"/>
                    <a:pt x="2159" y="6840347"/>
                  </a:cubicBezTo>
                  <a:cubicBezTo>
                    <a:pt x="635" y="6836791"/>
                    <a:pt x="0" y="6833235"/>
                    <a:pt x="0" y="6829425"/>
                  </a:cubicBezTo>
                  <a:close/>
                </a:path>
              </a:pathLst>
            </a:custGeom>
            <a:solidFill>
              <a:srgbClr val="5865F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63500"/>
              <a:ext cx="276225" cy="6858000"/>
            </a:xfrm>
            <a:custGeom>
              <a:avLst/>
              <a:gdLst/>
              <a:ahLst/>
              <a:cxnLst/>
              <a:rect r="r" b="b" t="t" l="l"/>
              <a:pathLst>
                <a:path h="6858000" w="276225">
                  <a:moveTo>
                    <a:pt x="0" y="6829425"/>
                  </a:moveTo>
                  <a:lnTo>
                    <a:pt x="0" y="28575"/>
                  </a:ln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lnTo>
                    <a:pt x="247650" y="0"/>
                  </a:lnTo>
                  <a:cubicBezTo>
                    <a:pt x="251460" y="0"/>
                    <a:pt x="255143" y="762"/>
                    <a:pt x="258572" y="2159"/>
                  </a:cubicBezTo>
                  <a:cubicBezTo>
                    <a:pt x="262001" y="3556"/>
                    <a:pt x="265176" y="5715"/>
                    <a:pt x="267843" y="8382"/>
                  </a:cubicBezTo>
                  <a:cubicBezTo>
                    <a:pt x="270510" y="11049"/>
                    <a:pt x="272542" y="14097"/>
                    <a:pt x="274066" y="17653"/>
                  </a:cubicBezTo>
                  <a:cubicBezTo>
                    <a:pt x="275590" y="21209"/>
                    <a:pt x="276225" y="24765"/>
                    <a:pt x="276225" y="28575"/>
                  </a:cubicBezTo>
                  <a:lnTo>
                    <a:pt x="276225" y="6829425"/>
                  </a:lnTo>
                  <a:cubicBezTo>
                    <a:pt x="276225" y="6833235"/>
                    <a:pt x="275463" y="6836918"/>
                    <a:pt x="274066" y="6840347"/>
                  </a:cubicBezTo>
                  <a:cubicBezTo>
                    <a:pt x="272669" y="6843776"/>
                    <a:pt x="270510" y="6846951"/>
                    <a:pt x="267843" y="6849618"/>
                  </a:cubicBezTo>
                  <a:cubicBezTo>
                    <a:pt x="265176" y="6852285"/>
                    <a:pt x="262128" y="6854317"/>
                    <a:pt x="258572" y="6855841"/>
                  </a:cubicBezTo>
                  <a:cubicBezTo>
                    <a:pt x="255016" y="6857365"/>
                    <a:pt x="251460" y="6858000"/>
                    <a:pt x="247650" y="6858000"/>
                  </a:cubicBezTo>
                  <a:lnTo>
                    <a:pt x="28575" y="6858000"/>
                  </a:lnTo>
                  <a:cubicBezTo>
                    <a:pt x="24765" y="6858000"/>
                    <a:pt x="21082" y="6857238"/>
                    <a:pt x="17653" y="6855841"/>
                  </a:cubicBezTo>
                  <a:cubicBezTo>
                    <a:pt x="14224" y="6854444"/>
                    <a:pt x="11049" y="6852285"/>
                    <a:pt x="8382" y="6849618"/>
                  </a:cubicBezTo>
                  <a:cubicBezTo>
                    <a:pt x="5715" y="6846951"/>
                    <a:pt x="3683" y="6843903"/>
                    <a:pt x="2159" y="6840347"/>
                  </a:cubicBezTo>
                  <a:cubicBezTo>
                    <a:pt x="635" y="6836791"/>
                    <a:pt x="0" y="6833235"/>
                    <a:pt x="0" y="6829425"/>
                  </a:cubicBezTo>
                  <a:close/>
                </a:path>
              </a:pathLst>
            </a:custGeom>
            <a:solidFill>
              <a:srgbClr val="24292F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977900" y="2930525"/>
              <a:ext cx="10363200" cy="1047750"/>
            </a:xfrm>
            <a:custGeom>
              <a:avLst/>
              <a:gdLst/>
              <a:ahLst/>
              <a:cxnLst/>
              <a:rect r="r" b="b" t="t" l="l"/>
              <a:pathLst>
                <a:path h="1047750" w="10363200">
                  <a:moveTo>
                    <a:pt x="0" y="1019175"/>
                  </a:moveTo>
                  <a:lnTo>
                    <a:pt x="0" y="28575"/>
                  </a:ln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lnTo>
                    <a:pt x="10334625" y="0"/>
                  </a:lnTo>
                  <a:cubicBezTo>
                    <a:pt x="10338435" y="0"/>
                    <a:pt x="10342118" y="762"/>
                    <a:pt x="10345547" y="2159"/>
                  </a:cubicBezTo>
                  <a:cubicBezTo>
                    <a:pt x="10348976" y="3556"/>
                    <a:pt x="10352151" y="5715"/>
                    <a:pt x="10354818" y="8382"/>
                  </a:cubicBezTo>
                  <a:cubicBezTo>
                    <a:pt x="10357485" y="11049"/>
                    <a:pt x="10359517" y="14097"/>
                    <a:pt x="10361041" y="17653"/>
                  </a:cubicBezTo>
                  <a:cubicBezTo>
                    <a:pt x="10362565" y="21209"/>
                    <a:pt x="10363200" y="24765"/>
                    <a:pt x="10363200" y="28575"/>
                  </a:cubicBezTo>
                  <a:lnTo>
                    <a:pt x="10363200" y="1019175"/>
                  </a:lnTo>
                  <a:cubicBezTo>
                    <a:pt x="10363200" y="1022985"/>
                    <a:pt x="10362438" y="1026668"/>
                    <a:pt x="10361041" y="1030097"/>
                  </a:cubicBezTo>
                  <a:cubicBezTo>
                    <a:pt x="10359644" y="1033526"/>
                    <a:pt x="10357485" y="1036701"/>
                    <a:pt x="10354818" y="1039368"/>
                  </a:cubicBezTo>
                  <a:cubicBezTo>
                    <a:pt x="10352151" y="1042035"/>
                    <a:pt x="10349103" y="1044067"/>
                    <a:pt x="10345547" y="1045591"/>
                  </a:cubicBezTo>
                  <a:cubicBezTo>
                    <a:pt x="10341991" y="1047115"/>
                    <a:pt x="10338435" y="1047750"/>
                    <a:pt x="10334625" y="1047750"/>
                  </a:cubicBezTo>
                  <a:lnTo>
                    <a:pt x="28575" y="1047750"/>
                  </a:lnTo>
                  <a:cubicBezTo>
                    <a:pt x="24765" y="1047750"/>
                    <a:pt x="21082" y="1046988"/>
                    <a:pt x="17653" y="1045591"/>
                  </a:cubicBezTo>
                  <a:cubicBezTo>
                    <a:pt x="14224" y="1044194"/>
                    <a:pt x="11049" y="1042035"/>
                    <a:pt x="8382" y="1039368"/>
                  </a:cubicBezTo>
                  <a:cubicBezTo>
                    <a:pt x="5715" y="1036701"/>
                    <a:pt x="3683" y="1033653"/>
                    <a:pt x="2159" y="1030097"/>
                  </a:cubicBezTo>
                  <a:cubicBezTo>
                    <a:pt x="635" y="1026541"/>
                    <a:pt x="0" y="1022985"/>
                    <a:pt x="0" y="101917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977900" y="5826125"/>
              <a:ext cx="3200400" cy="342900"/>
            </a:xfrm>
            <a:custGeom>
              <a:avLst/>
              <a:gdLst/>
              <a:ahLst/>
              <a:cxnLst/>
              <a:rect r="r" b="b" t="t" l="l"/>
              <a:pathLst>
                <a:path h="342900" w="3200400">
                  <a:moveTo>
                    <a:pt x="0" y="314325"/>
                  </a:moveTo>
                  <a:lnTo>
                    <a:pt x="0" y="28575"/>
                  </a:ln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lnTo>
                    <a:pt x="3171825" y="0"/>
                  </a:lnTo>
                  <a:cubicBezTo>
                    <a:pt x="3175635" y="0"/>
                    <a:pt x="3179318" y="762"/>
                    <a:pt x="3182747" y="2159"/>
                  </a:cubicBezTo>
                  <a:cubicBezTo>
                    <a:pt x="3186176" y="3556"/>
                    <a:pt x="3189351" y="5715"/>
                    <a:pt x="3192018" y="8382"/>
                  </a:cubicBezTo>
                  <a:cubicBezTo>
                    <a:pt x="3194685" y="11049"/>
                    <a:pt x="3196717" y="14097"/>
                    <a:pt x="3198241" y="17653"/>
                  </a:cubicBezTo>
                  <a:cubicBezTo>
                    <a:pt x="3199765" y="21209"/>
                    <a:pt x="3200400" y="24765"/>
                    <a:pt x="3200400" y="28575"/>
                  </a:cubicBezTo>
                  <a:lnTo>
                    <a:pt x="3200400" y="314325"/>
                  </a:lnTo>
                  <a:cubicBezTo>
                    <a:pt x="3200400" y="318135"/>
                    <a:pt x="3199638" y="321818"/>
                    <a:pt x="3198241" y="325247"/>
                  </a:cubicBezTo>
                  <a:cubicBezTo>
                    <a:pt x="3196844" y="328676"/>
                    <a:pt x="3194685" y="331851"/>
                    <a:pt x="3192018" y="334518"/>
                  </a:cubicBezTo>
                  <a:cubicBezTo>
                    <a:pt x="3189351" y="337185"/>
                    <a:pt x="3186303" y="339217"/>
                    <a:pt x="3182747" y="340741"/>
                  </a:cubicBezTo>
                  <a:cubicBezTo>
                    <a:pt x="3179191" y="342265"/>
                    <a:pt x="3175635" y="342900"/>
                    <a:pt x="3171825" y="342900"/>
                  </a:cubicBezTo>
                  <a:lnTo>
                    <a:pt x="28575" y="342900"/>
                  </a:lnTo>
                  <a:cubicBezTo>
                    <a:pt x="24765" y="342900"/>
                    <a:pt x="21082" y="342138"/>
                    <a:pt x="17653" y="340741"/>
                  </a:cubicBezTo>
                  <a:cubicBezTo>
                    <a:pt x="14224" y="339344"/>
                    <a:pt x="11049" y="337185"/>
                    <a:pt x="8382" y="334518"/>
                  </a:cubicBezTo>
                  <a:cubicBezTo>
                    <a:pt x="5715" y="331851"/>
                    <a:pt x="3683" y="328803"/>
                    <a:pt x="2159" y="325247"/>
                  </a:cubicBezTo>
                  <a:cubicBezTo>
                    <a:pt x="635" y="321691"/>
                    <a:pt x="0" y="318135"/>
                    <a:pt x="0" y="314325"/>
                  </a:cubicBezTo>
                  <a:close/>
                </a:path>
              </a:pathLst>
            </a:custGeom>
            <a:solidFill>
              <a:srgbClr val="24292F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4559300" y="5826125"/>
              <a:ext cx="3200400" cy="342900"/>
            </a:xfrm>
            <a:custGeom>
              <a:avLst/>
              <a:gdLst/>
              <a:ahLst/>
              <a:cxnLst/>
              <a:rect r="r" b="b" t="t" l="l"/>
              <a:pathLst>
                <a:path h="342900" w="3200400">
                  <a:moveTo>
                    <a:pt x="0" y="314325"/>
                  </a:moveTo>
                  <a:lnTo>
                    <a:pt x="0" y="28575"/>
                  </a:ln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lnTo>
                    <a:pt x="3171825" y="0"/>
                  </a:lnTo>
                  <a:cubicBezTo>
                    <a:pt x="3175635" y="0"/>
                    <a:pt x="3179318" y="762"/>
                    <a:pt x="3182747" y="2159"/>
                  </a:cubicBezTo>
                  <a:cubicBezTo>
                    <a:pt x="3186176" y="3556"/>
                    <a:pt x="3189351" y="5715"/>
                    <a:pt x="3192018" y="8382"/>
                  </a:cubicBezTo>
                  <a:cubicBezTo>
                    <a:pt x="3194685" y="11049"/>
                    <a:pt x="3196717" y="14097"/>
                    <a:pt x="3198241" y="17653"/>
                  </a:cubicBezTo>
                  <a:cubicBezTo>
                    <a:pt x="3199765" y="21209"/>
                    <a:pt x="3200400" y="24765"/>
                    <a:pt x="3200400" y="28575"/>
                  </a:cubicBezTo>
                  <a:lnTo>
                    <a:pt x="3200400" y="314325"/>
                  </a:lnTo>
                  <a:cubicBezTo>
                    <a:pt x="3200400" y="318135"/>
                    <a:pt x="3199638" y="321818"/>
                    <a:pt x="3198241" y="325247"/>
                  </a:cubicBezTo>
                  <a:cubicBezTo>
                    <a:pt x="3196844" y="328676"/>
                    <a:pt x="3194685" y="331851"/>
                    <a:pt x="3192018" y="334518"/>
                  </a:cubicBezTo>
                  <a:cubicBezTo>
                    <a:pt x="3189351" y="337185"/>
                    <a:pt x="3186303" y="339217"/>
                    <a:pt x="3182747" y="340741"/>
                  </a:cubicBezTo>
                  <a:cubicBezTo>
                    <a:pt x="3179191" y="342265"/>
                    <a:pt x="3175635" y="342900"/>
                    <a:pt x="3171825" y="342900"/>
                  </a:cubicBezTo>
                  <a:lnTo>
                    <a:pt x="28575" y="342900"/>
                  </a:lnTo>
                  <a:cubicBezTo>
                    <a:pt x="24765" y="342900"/>
                    <a:pt x="21082" y="342138"/>
                    <a:pt x="17653" y="340741"/>
                  </a:cubicBezTo>
                  <a:cubicBezTo>
                    <a:pt x="14224" y="339344"/>
                    <a:pt x="11049" y="337185"/>
                    <a:pt x="8382" y="334518"/>
                  </a:cubicBezTo>
                  <a:cubicBezTo>
                    <a:pt x="5715" y="331851"/>
                    <a:pt x="3683" y="328803"/>
                    <a:pt x="2159" y="325247"/>
                  </a:cubicBezTo>
                  <a:cubicBezTo>
                    <a:pt x="635" y="321691"/>
                    <a:pt x="0" y="318135"/>
                    <a:pt x="0" y="314325"/>
                  </a:cubicBezTo>
                  <a:close/>
                </a:path>
              </a:pathLst>
            </a:custGeom>
            <a:solidFill>
              <a:srgbClr val="DDE3FF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8140700" y="5826125"/>
              <a:ext cx="3200400" cy="342900"/>
            </a:xfrm>
            <a:custGeom>
              <a:avLst/>
              <a:gdLst/>
              <a:ahLst/>
              <a:cxnLst/>
              <a:rect r="r" b="b" t="t" l="l"/>
              <a:pathLst>
                <a:path h="342900" w="3200400">
                  <a:moveTo>
                    <a:pt x="0" y="314325"/>
                  </a:moveTo>
                  <a:lnTo>
                    <a:pt x="0" y="28575"/>
                  </a:ln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lnTo>
                    <a:pt x="3171825" y="0"/>
                  </a:lnTo>
                  <a:cubicBezTo>
                    <a:pt x="3175635" y="0"/>
                    <a:pt x="3179318" y="762"/>
                    <a:pt x="3182747" y="2159"/>
                  </a:cubicBezTo>
                  <a:cubicBezTo>
                    <a:pt x="3186176" y="3556"/>
                    <a:pt x="3189351" y="5715"/>
                    <a:pt x="3192018" y="8382"/>
                  </a:cubicBezTo>
                  <a:cubicBezTo>
                    <a:pt x="3194685" y="11049"/>
                    <a:pt x="3196717" y="14097"/>
                    <a:pt x="3198241" y="17653"/>
                  </a:cubicBezTo>
                  <a:cubicBezTo>
                    <a:pt x="3199765" y="21209"/>
                    <a:pt x="3200400" y="24765"/>
                    <a:pt x="3200400" y="28575"/>
                  </a:cubicBezTo>
                  <a:lnTo>
                    <a:pt x="3200400" y="314325"/>
                  </a:lnTo>
                  <a:cubicBezTo>
                    <a:pt x="3200400" y="318135"/>
                    <a:pt x="3199638" y="321818"/>
                    <a:pt x="3198241" y="325247"/>
                  </a:cubicBezTo>
                  <a:cubicBezTo>
                    <a:pt x="3196844" y="328676"/>
                    <a:pt x="3194685" y="331851"/>
                    <a:pt x="3192018" y="334518"/>
                  </a:cubicBezTo>
                  <a:cubicBezTo>
                    <a:pt x="3189351" y="337185"/>
                    <a:pt x="3186303" y="339217"/>
                    <a:pt x="3182747" y="340741"/>
                  </a:cubicBezTo>
                  <a:cubicBezTo>
                    <a:pt x="3179191" y="342265"/>
                    <a:pt x="3175635" y="342900"/>
                    <a:pt x="3171825" y="342900"/>
                  </a:cubicBezTo>
                  <a:lnTo>
                    <a:pt x="28575" y="342900"/>
                  </a:lnTo>
                  <a:cubicBezTo>
                    <a:pt x="24765" y="342900"/>
                    <a:pt x="21082" y="342138"/>
                    <a:pt x="17653" y="340741"/>
                  </a:cubicBezTo>
                  <a:cubicBezTo>
                    <a:pt x="14224" y="339344"/>
                    <a:pt x="11049" y="337185"/>
                    <a:pt x="8382" y="334518"/>
                  </a:cubicBezTo>
                  <a:cubicBezTo>
                    <a:pt x="5715" y="331851"/>
                    <a:pt x="3683" y="328803"/>
                    <a:pt x="2159" y="325247"/>
                  </a:cubicBezTo>
                  <a:cubicBezTo>
                    <a:pt x="635" y="321691"/>
                    <a:pt x="0" y="318135"/>
                    <a:pt x="0" y="314325"/>
                  </a:cubicBezTo>
                  <a:close/>
                </a:path>
              </a:pathLst>
            </a:custGeom>
            <a:solidFill>
              <a:srgbClr val="5865F2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342245" y="6343650"/>
            <a:ext cx="1754505" cy="419100"/>
            <a:chOff x="0" y="0"/>
            <a:chExt cx="2339340" cy="558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39340" cy="558800"/>
            </a:xfrm>
            <a:custGeom>
              <a:avLst/>
              <a:gdLst/>
              <a:ahLst/>
              <a:cxnLst/>
              <a:rect r="r" b="b" t="t" l="l"/>
              <a:pathLst>
                <a:path h="558800" w="2339340">
                  <a:moveTo>
                    <a:pt x="0" y="0"/>
                  </a:moveTo>
                  <a:lnTo>
                    <a:pt x="2339340" y="0"/>
                  </a:lnTo>
                  <a:lnTo>
                    <a:pt x="2339340" y="558800"/>
                  </a:lnTo>
                  <a:lnTo>
                    <a:pt x="0" y="558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71550" y="628650"/>
            <a:ext cx="2267884" cy="304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PUBLICAÇÃO NA WEB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71550" y="996100"/>
            <a:ext cx="7009041" cy="1203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29"/>
              </a:lnSpc>
            </a:pPr>
            <a:r>
              <a:rPr lang="en-US" b="true" sz="4663">
                <a:solidFill>
                  <a:srgbClr val="24292F"/>
                </a:solidFill>
                <a:latin typeface="Arimo Bold"/>
                <a:ea typeface="Arimo Bold"/>
                <a:cs typeface="Arimo Bold"/>
                <a:sym typeface="Arimo Bold"/>
              </a:rPr>
              <a:t>GitHub Pages</a:t>
            </a:r>
          </a:p>
          <a:p>
            <a:pPr algn="l">
              <a:lnSpc>
                <a:spcPts val="2798"/>
              </a:lnSpc>
            </a:pPr>
            <a:r>
              <a:rPr lang="en-US" sz="1998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Seu repositório pode virar um site público, simples e gratuito</a:t>
            </a:r>
            <a:r>
              <a:rPr lang="en-US" sz="1998">
                <a:solidFill>
                  <a:srgbClr val="536174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71550" y="2831636"/>
            <a:ext cx="1965912" cy="323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1"/>
              </a:lnSpc>
            </a:pPr>
            <a:r>
              <a:rPr lang="en-US" b="true" sz="1786">
                <a:solidFill>
                  <a:srgbClr val="104996"/>
                </a:solidFill>
                <a:latin typeface="Arimo Bold"/>
                <a:ea typeface="Arimo Bold"/>
                <a:cs typeface="Arimo Bold"/>
                <a:sym typeface="Arimo Bold"/>
              </a:rPr>
              <a:t>COMO FUNCIONA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742374" y="3643420"/>
            <a:ext cx="5707409" cy="168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536174"/>
                </a:solidFill>
                <a:latin typeface="Arimo"/>
                <a:ea typeface="Arimo"/>
                <a:cs typeface="Arimo"/>
                <a:sym typeface="Arimo"/>
              </a:rPr>
              <a:t>O GitHub Pages hospeda arquivos HTML, CSS e JavaScript diretamente a partir de um repositório.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640373" y="3080311"/>
            <a:ext cx="6354725" cy="495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2"/>
              </a:lnSpc>
            </a:pPr>
            <a:r>
              <a:rPr lang="en-US" sz="2801">
                <a:solidFill>
                  <a:srgbClr val="24292F"/>
                </a:solidFill>
                <a:latin typeface="Arimo"/>
                <a:ea typeface="Arimo"/>
                <a:cs typeface="Arimo"/>
                <a:sym typeface="Arimo"/>
              </a:rPr>
              <a:t>Repositório</a:t>
            </a:r>
            <a:r>
              <a:rPr lang="en-US" sz="2801">
                <a:solidFill>
                  <a:srgbClr val="7E91B8"/>
                </a:solidFill>
                <a:latin typeface="Arimo"/>
                <a:ea typeface="Arimo"/>
                <a:cs typeface="Arimo"/>
                <a:sym typeface="Arimo"/>
              </a:rPr>
              <a:t> → </a:t>
            </a:r>
            <a:r>
              <a:rPr lang="en-US" sz="2801">
                <a:solidFill>
                  <a:srgbClr val="24292F"/>
                </a:solidFill>
                <a:latin typeface="Arimo"/>
                <a:ea typeface="Arimo"/>
                <a:cs typeface="Arimo"/>
                <a:sym typeface="Arimo"/>
              </a:rPr>
              <a:t>build</a:t>
            </a:r>
            <a:r>
              <a:rPr lang="en-US" sz="2801">
                <a:solidFill>
                  <a:srgbClr val="7E91B8"/>
                </a:solidFill>
                <a:latin typeface="Arimo"/>
                <a:ea typeface="Arimo"/>
                <a:cs typeface="Arimo"/>
                <a:sym typeface="Arimo"/>
              </a:rPr>
              <a:t> → </a:t>
            </a:r>
            <a:r>
              <a:rPr lang="en-US" sz="2801">
                <a:solidFill>
                  <a:srgbClr val="24292F"/>
                </a:solidFill>
                <a:latin typeface="Arimo"/>
                <a:ea typeface="Arimo"/>
                <a:cs typeface="Arimo"/>
                <a:sym typeface="Arimo"/>
              </a:rPr>
              <a:t>site publicado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16281" y="5467463"/>
            <a:ext cx="3199706" cy="442697"/>
            <a:chOff x="0" y="0"/>
            <a:chExt cx="1264081" cy="17489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64081" cy="174893"/>
            </a:xfrm>
            <a:custGeom>
              <a:avLst/>
              <a:gdLst/>
              <a:ahLst/>
              <a:cxnLst/>
              <a:rect r="r" b="b" t="t" l="l"/>
              <a:pathLst>
                <a:path h="174893" w="1264081">
                  <a:moveTo>
                    <a:pt x="26615" y="0"/>
                  </a:moveTo>
                  <a:lnTo>
                    <a:pt x="1237466" y="0"/>
                  </a:lnTo>
                  <a:cubicBezTo>
                    <a:pt x="1244525" y="0"/>
                    <a:pt x="1251294" y="2804"/>
                    <a:pt x="1256286" y="7795"/>
                  </a:cubicBezTo>
                  <a:cubicBezTo>
                    <a:pt x="1261277" y="12787"/>
                    <a:pt x="1264081" y="19556"/>
                    <a:pt x="1264081" y="26615"/>
                  </a:cubicBezTo>
                  <a:lnTo>
                    <a:pt x="1264081" y="148277"/>
                  </a:lnTo>
                  <a:cubicBezTo>
                    <a:pt x="1264081" y="155336"/>
                    <a:pt x="1261277" y="162106"/>
                    <a:pt x="1256286" y="167097"/>
                  </a:cubicBezTo>
                  <a:cubicBezTo>
                    <a:pt x="1251294" y="172089"/>
                    <a:pt x="1244525" y="174893"/>
                    <a:pt x="1237466" y="174893"/>
                  </a:cubicBezTo>
                  <a:lnTo>
                    <a:pt x="26615" y="174893"/>
                  </a:lnTo>
                  <a:cubicBezTo>
                    <a:pt x="19556" y="174893"/>
                    <a:pt x="12787" y="172089"/>
                    <a:pt x="7795" y="167097"/>
                  </a:cubicBezTo>
                  <a:cubicBezTo>
                    <a:pt x="2804" y="162106"/>
                    <a:pt x="0" y="155336"/>
                    <a:pt x="0" y="148277"/>
                  </a:cubicBezTo>
                  <a:lnTo>
                    <a:pt x="0" y="26615"/>
                  </a:lnTo>
                  <a:cubicBezTo>
                    <a:pt x="0" y="19556"/>
                    <a:pt x="2804" y="12787"/>
                    <a:pt x="7795" y="7795"/>
                  </a:cubicBezTo>
                  <a:cubicBezTo>
                    <a:pt x="12787" y="2804"/>
                    <a:pt x="19556" y="0"/>
                    <a:pt x="26615" y="0"/>
                  </a:cubicBezTo>
                  <a:close/>
                </a:path>
              </a:pathLst>
            </a:custGeom>
            <a:solidFill>
              <a:srgbClr val="24292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1264081" cy="2034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58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054606" y="5457539"/>
            <a:ext cx="1832374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Portfólios</a:t>
            </a:r>
          </a:p>
          <a:p>
            <a:pPr algn="l">
              <a:lnSpc>
                <a:spcPts val="2250"/>
              </a:lnSpc>
            </a:pPr>
            <a:r>
              <a:rPr lang="en-US" sz="1500">
                <a:solidFill>
                  <a:srgbClr val="B9C2CF"/>
                </a:solidFill>
                <a:latin typeface="Arimo"/>
                <a:ea typeface="Arimo"/>
                <a:cs typeface="Arimo"/>
                <a:sym typeface="Arimo"/>
              </a:rPr>
              <a:t>Mostre seus projetos.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4498245" y="5484923"/>
            <a:ext cx="3195511" cy="442697"/>
            <a:chOff x="0" y="0"/>
            <a:chExt cx="1262424" cy="17489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62424" cy="174893"/>
            </a:xfrm>
            <a:custGeom>
              <a:avLst/>
              <a:gdLst/>
              <a:ahLst/>
              <a:cxnLst/>
              <a:rect r="r" b="b" t="t" l="l"/>
              <a:pathLst>
                <a:path h="174893" w="1262424">
                  <a:moveTo>
                    <a:pt x="26650" y="0"/>
                  </a:moveTo>
                  <a:lnTo>
                    <a:pt x="1235774" y="0"/>
                  </a:lnTo>
                  <a:cubicBezTo>
                    <a:pt x="1250492" y="0"/>
                    <a:pt x="1262424" y="11932"/>
                    <a:pt x="1262424" y="26650"/>
                  </a:cubicBezTo>
                  <a:lnTo>
                    <a:pt x="1262424" y="148242"/>
                  </a:lnTo>
                  <a:cubicBezTo>
                    <a:pt x="1262424" y="162961"/>
                    <a:pt x="1250492" y="174893"/>
                    <a:pt x="1235774" y="174893"/>
                  </a:cubicBezTo>
                  <a:lnTo>
                    <a:pt x="26650" y="174893"/>
                  </a:lnTo>
                  <a:cubicBezTo>
                    <a:pt x="19582" y="174893"/>
                    <a:pt x="12804" y="172085"/>
                    <a:pt x="7806" y="167087"/>
                  </a:cubicBezTo>
                  <a:cubicBezTo>
                    <a:pt x="2808" y="162089"/>
                    <a:pt x="0" y="155311"/>
                    <a:pt x="0" y="148242"/>
                  </a:cubicBezTo>
                  <a:lnTo>
                    <a:pt x="0" y="26650"/>
                  </a:lnTo>
                  <a:cubicBezTo>
                    <a:pt x="0" y="19582"/>
                    <a:pt x="2808" y="12804"/>
                    <a:pt x="7806" y="7806"/>
                  </a:cubicBezTo>
                  <a:cubicBezTo>
                    <a:pt x="12804" y="2808"/>
                    <a:pt x="19582" y="0"/>
                    <a:pt x="26650" y="0"/>
                  </a:cubicBezTo>
                  <a:close/>
                </a:path>
              </a:pathLst>
            </a:custGeom>
            <a:solidFill>
              <a:srgbClr val="DDE3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1262424" cy="2034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58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4570748" y="5469640"/>
            <a:ext cx="2059334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499">
                <a:solidFill>
                  <a:srgbClr val="24292F"/>
                </a:solidFill>
                <a:latin typeface="Arimo"/>
                <a:ea typeface="Arimo"/>
                <a:cs typeface="Arimo"/>
                <a:sym typeface="Arimo"/>
              </a:rPr>
              <a:t>Documentação </a:t>
            </a:r>
            <a:r>
              <a:rPr lang="en-US" sz="1499">
                <a:solidFill>
                  <a:srgbClr val="536174"/>
                </a:solidFill>
                <a:latin typeface="Arimo"/>
                <a:ea typeface="Arimo"/>
                <a:cs typeface="Arimo"/>
                <a:sym typeface="Arimo"/>
              </a:rPr>
              <a:t>Explique seu produto.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7841343" y="5475271"/>
            <a:ext cx="3190522" cy="630664"/>
            <a:chOff x="0" y="0"/>
            <a:chExt cx="1260453" cy="24915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60453" cy="249151"/>
            </a:xfrm>
            <a:custGeom>
              <a:avLst/>
              <a:gdLst/>
              <a:ahLst/>
              <a:cxnLst/>
              <a:rect r="r" b="b" t="t" l="l"/>
              <a:pathLst>
                <a:path h="249151" w="1260453">
                  <a:moveTo>
                    <a:pt x="21839" y="0"/>
                  </a:moveTo>
                  <a:lnTo>
                    <a:pt x="1238614" y="0"/>
                  </a:lnTo>
                  <a:cubicBezTo>
                    <a:pt x="1244406" y="0"/>
                    <a:pt x="1249961" y="2301"/>
                    <a:pt x="1254057" y="6396"/>
                  </a:cubicBezTo>
                  <a:cubicBezTo>
                    <a:pt x="1258152" y="10492"/>
                    <a:pt x="1260453" y="16047"/>
                    <a:pt x="1260453" y="21839"/>
                  </a:cubicBezTo>
                  <a:lnTo>
                    <a:pt x="1260453" y="227312"/>
                  </a:lnTo>
                  <a:cubicBezTo>
                    <a:pt x="1260453" y="233104"/>
                    <a:pt x="1258152" y="238659"/>
                    <a:pt x="1254057" y="242755"/>
                  </a:cubicBezTo>
                  <a:cubicBezTo>
                    <a:pt x="1249961" y="246850"/>
                    <a:pt x="1244406" y="249151"/>
                    <a:pt x="1238614" y="249151"/>
                  </a:cubicBezTo>
                  <a:lnTo>
                    <a:pt x="21839" y="249151"/>
                  </a:lnTo>
                  <a:cubicBezTo>
                    <a:pt x="16047" y="249151"/>
                    <a:pt x="10492" y="246850"/>
                    <a:pt x="6396" y="242755"/>
                  </a:cubicBezTo>
                  <a:cubicBezTo>
                    <a:pt x="2301" y="238659"/>
                    <a:pt x="0" y="233104"/>
                    <a:pt x="0" y="227312"/>
                  </a:cubicBezTo>
                  <a:lnTo>
                    <a:pt x="0" y="21839"/>
                  </a:lnTo>
                  <a:cubicBezTo>
                    <a:pt x="0" y="16047"/>
                    <a:pt x="2301" y="10492"/>
                    <a:pt x="6396" y="6396"/>
                  </a:cubicBezTo>
                  <a:cubicBezTo>
                    <a:pt x="10492" y="2301"/>
                    <a:pt x="16047" y="0"/>
                    <a:pt x="21839" y="0"/>
                  </a:cubicBezTo>
                  <a:close/>
                </a:path>
              </a:pathLst>
            </a:custGeom>
            <a:solidFill>
              <a:srgbClr val="6FE7F2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1260453" cy="2777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58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7945980" y="5495997"/>
            <a:ext cx="2732440" cy="553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8"/>
              </a:lnSpc>
            </a:pPr>
            <a:r>
              <a:rPr lang="en-US" sz="149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Projetos pessoais</a:t>
            </a:r>
          </a:p>
          <a:p>
            <a:pPr algn="l">
              <a:lnSpc>
                <a:spcPts val="2238"/>
              </a:lnSpc>
            </a:pPr>
            <a:r>
              <a:rPr lang="en-US" sz="149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Publique em poucos passos.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624974" y="6205538"/>
            <a:ext cx="5558704" cy="1304925"/>
            <a:chOff x="0" y="0"/>
            <a:chExt cx="5558704" cy="130492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558704" cy="1304925"/>
            </a:xfrm>
            <a:custGeom>
              <a:avLst/>
              <a:gdLst/>
              <a:ahLst/>
              <a:cxnLst/>
              <a:rect r="r" b="b" t="t" l="l"/>
              <a:pathLst>
                <a:path h="1304925" w="5558704">
                  <a:moveTo>
                    <a:pt x="0" y="0"/>
                  </a:moveTo>
                  <a:lnTo>
                    <a:pt x="0" y="1304925"/>
                  </a:lnTo>
                  <a:lnTo>
                    <a:pt x="5558704" y="1304925"/>
                  </a:lnTo>
                  <a:lnTo>
                    <a:pt x="5558704" y="0"/>
                  </a:lnTo>
                  <a:close/>
                </a:path>
              </a:pathLst>
            </a:custGeom>
            <a:solidFill>
              <a:srgbClr val="5865F2"/>
            </a:solidFill>
          </p:spPr>
        </p:sp>
      </p:grpSp>
    </p:spTree>
  </p:cSld>
  <p:clrMapOvr>
    <a:masterClrMapping/>
  </p:clrMapOvr>
  <p:transition spd="med">
    <p:cover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05F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6273" y="1665313"/>
            <a:ext cx="7607246" cy="4135059"/>
            <a:chOff x="0" y="0"/>
            <a:chExt cx="9182100" cy="4991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82100" cy="4990973"/>
            </a:xfrm>
            <a:custGeom>
              <a:avLst/>
              <a:gdLst/>
              <a:ahLst/>
              <a:cxnLst/>
              <a:rect r="r" b="b" t="t" l="l"/>
              <a:pathLst>
                <a:path h="4990973" w="9182100">
                  <a:moveTo>
                    <a:pt x="27940" y="0"/>
                  </a:moveTo>
                  <a:cubicBezTo>
                    <a:pt x="20193" y="0"/>
                    <a:pt x="13589" y="2667"/>
                    <a:pt x="8128" y="8128"/>
                  </a:cubicBezTo>
                  <a:cubicBezTo>
                    <a:pt x="2667" y="13589"/>
                    <a:pt x="0" y="20193"/>
                    <a:pt x="0" y="27940"/>
                  </a:cubicBezTo>
                  <a:lnTo>
                    <a:pt x="0" y="4963160"/>
                  </a:lnTo>
                  <a:cubicBezTo>
                    <a:pt x="0" y="4970907"/>
                    <a:pt x="2794" y="4977384"/>
                    <a:pt x="8128" y="4982845"/>
                  </a:cubicBezTo>
                  <a:cubicBezTo>
                    <a:pt x="13462" y="4988306"/>
                    <a:pt x="20193" y="4990973"/>
                    <a:pt x="27940" y="4990973"/>
                  </a:cubicBezTo>
                  <a:lnTo>
                    <a:pt x="9154160" y="4990973"/>
                  </a:lnTo>
                  <a:cubicBezTo>
                    <a:pt x="9161907" y="4990973"/>
                    <a:pt x="9168511" y="4988306"/>
                    <a:pt x="9173972" y="4982845"/>
                  </a:cubicBezTo>
                  <a:cubicBezTo>
                    <a:pt x="9179433" y="4977384"/>
                    <a:pt x="9182100" y="4970780"/>
                    <a:pt x="9182100" y="4963033"/>
                  </a:cubicBezTo>
                  <a:lnTo>
                    <a:pt x="9182100" y="27940"/>
                  </a:lnTo>
                  <a:cubicBezTo>
                    <a:pt x="9182100" y="20193"/>
                    <a:pt x="9179433" y="13589"/>
                    <a:pt x="9173972" y="8128"/>
                  </a:cubicBezTo>
                  <a:cubicBezTo>
                    <a:pt x="9168511" y="2667"/>
                    <a:pt x="9161907" y="0"/>
                    <a:pt x="915416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-2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8123390" y="1396055"/>
            <a:ext cx="3702072" cy="4673575"/>
          </a:xfrm>
          <a:custGeom>
            <a:avLst/>
            <a:gdLst/>
            <a:ahLst/>
            <a:cxnLst/>
            <a:rect r="r" b="b" t="t" l="l"/>
            <a:pathLst>
              <a:path h="4673575" w="3702072">
                <a:moveTo>
                  <a:pt x="0" y="0"/>
                </a:moveTo>
                <a:lnTo>
                  <a:pt x="3702072" y="0"/>
                </a:lnTo>
                <a:lnTo>
                  <a:pt x="3702072" y="4673575"/>
                </a:lnTo>
                <a:lnTo>
                  <a:pt x="0" y="46735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410825" y="6219825"/>
            <a:ext cx="1781175" cy="638175"/>
            <a:chOff x="0" y="0"/>
            <a:chExt cx="1781175" cy="6381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81175" cy="638175"/>
            </a:xfrm>
            <a:custGeom>
              <a:avLst/>
              <a:gdLst/>
              <a:ahLst/>
              <a:cxnLst/>
              <a:rect r="r" b="b" t="t" l="l"/>
              <a:pathLst>
                <a:path h="638175" w="1781175">
                  <a:moveTo>
                    <a:pt x="0" y="0"/>
                  </a:moveTo>
                  <a:lnTo>
                    <a:pt x="0" y="638175"/>
                  </a:lnTo>
                  <a:lnTo>
                    <a:pt x="1781175" y="638175"/>
                  </a:lnTo>
                  <a:lnTo>
                    <a:pt x="1781175" y="0"/>
                  </a:lnTo>
                  <a:close/>
                </a:path>
              </a:pathLst>
            </a:custGeom>
            <a:solidFill>
              <a:srgbClr val="100C35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342245" y="6343650"/>
            <a:ext cx="1754505" cy="419100"/>
            <a:chOff x="0" y="0"/>
            <a:chExt cx="2339340" cy="558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39340" cy="558800"/>
            </a:xfrm>
            <a:custGeom>
              <a:avLst/>
              <a:gdLst/>
              <a:ahLst/>
              <a:cxnLst/>
              <a:rect r="r" b="b" t="t" l="l"/>
              <a:pathLst>
                <a:path h="558800" w="2339340">
                  <a:moveTo>
                    <a:pt x="0" y="0"/>
                  </a:moveTo>
                  <a:lnTo>
                    <a:pt x="2339340" y="0"/>
                  </a:lnTo>
                  <a:lnTo>
                    <a:pt x="2339340" y="558800"/>
                  </a:lnTo>
                  <a:lnTo>
                    <a:pt x="0" y="558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276273" y="368369"/>
            <a:ext cx="7986657" cy="865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4"/>
              </a:lnSpc>
            </a:pPr>
            <a:r>
              <a:rPr lang="en-US" sz="4953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Estrutura de um Repositório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459651" y="3902816"/>
            <a:ext cx="2125494" cy="761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4"/>
              </a:lnSpc>
            </a:pPr>
            <a:r>
              <a:rPr lang="en-US" sz="1399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Commits</a:t>
            </a:r>
          </a:p>
          <a:p>
            <a:pPr algn="l">
              <a:lnSpc>
                <a:spcPts val="1650"/>
              </a:lnSpc>
            </a:pPr>
            <a:r>
              <a:rPr lang="en-US" sz="120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Histórico completo de todas as alterações.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459651" y="1588241"/>
            <a:ext cx="2728846" cy="771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2"/>
              </a:lnSpc>
            </a:pPr>
            <a:r>
              <a:rPr lang="en-US" sz="1399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README.md</a:t>
            </a:r>
          </a:p>
          <a:p>
            <a:pPr algn="l">
              <a:lnSpc>
                <a:spcPts val="1725"/>
              </a:lnSpc>
            </a:pPr>
            <a:r>
              <a:rPr lang="en-US" sz="120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Apresentação do projeto — a "capa" do repositório.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459651" y="4941041"/>
            <a:ext cx="2557758" cy="771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2"/>
              </a:lnSpc>
            </a:pPr>
            <a:r>
              <a:rPr lang="en-US" sz="1399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Branch principal</a:t>
            </a:r>
          </a:p>
          <a:p>
            <a:pPr algn="l">
              <a:lnSpc>
                <a:spcPts val="1725"/>
              </a:lnSpc>
            </a:pPr>
            <a:r>
              <a:rPr lang="en-US" sz="120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Chamada </a:t>
            </a:r>
            <a:r>
              <a:rPr lang="en-US" b="true" sz="1200">
                <a:solidFill>
                  <a:srgbClr val="D9E1FF"/>
                </a:solidFill>
                <a:latin typeface="Arimo Bold"/>
                <a:ea typeface="Arimo Bold"/>
                <a:cs typeface="Arimo Bold"/>
                <a:sym typeface="Arimo Bold"/>
              </a:rPr>
              <a:t>main </a:t>
            </a:r>
            <a:r>
              <a:rPr lang="en-US" sz="120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ou </a:t>
            </a:r>
            <a:r>
              <a:rPr lang="en-US" b="true" sz="1200">
                <a:solidFill>
                  <a:srgbClr val="D9E1FF"/>
                </a:solidFill>
                <a:latin typeface="Arimo Bold"/>
                <a:ea typeface="Arimo Bold"/>
                <a:cs typeface="Arimo Bold"/>
                <a:sym typeface="Arimo Bold"/>
              </a:rPr>
              <a:t>master </a:t>
            </a:r>
            <a:r>
              <a:rPr lang="en-US" sz="120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— versão estável do projeto.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459651" y="2855066"/>
            <a:ext cx="2350465" cy="771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2"/>
              </a:lnSpc>
            </a:pPr>
            <a:r>
              <a:rPr lang="en-US" sz="1399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Arquivos e Pastas</a:t>
            </a:r>
          </a:p>
          <a:p>
            <a:pPr algn="l">
              <a:lnSpc>
                <a:spcPts val="1725"/>
              </a:lnSpc>
            </a:pPr>
            <a:r>
              <a:rPr lang="en-US" sz="120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Todo o código-fonte e recursos do projeto.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748330" y="6110353"/>
            <a:ext cx="5558704" cy="1304925"/>
            <a:chOff x="0" y="0"/>
            <a:chExt cx="5558704" cy="130492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558704" cy="1304925"/>
            </a:xfrm>
            <a:custGeom>
              <a:avLst/>
              <a:gdLst/>
              <a:ahLst/>
              <a:cxnLst/>
              <a:rect r="r" b="b" t="t" l="l"/>
              <a:pathLst>
                <a:path h="1304925" w="5558704">
                  <a:moveTo>
                    <a:pt x="0" y="0"/>
                  </a:moveTo>
                  <a:lnTo>
                    <a:pt x="0" y="1304925"/>
                  </a:lnTo>
                  <a:lnTo>
                    <a:pt x="5558704" y="1304925"/>
                  </a:lnTo>
                  <a:lnTo>
                    <a:pt x="5558704" y="0"/>
                  </a:lnTo>
                  <a:close/>
                </a:path>
              </a:pathLst>
            </a:custGeom>
            <a:solidFill>
              <a:srgbClr val="405FB2"/>
            </a:solidFill>
          </p:spPr>
        </p:sp>
      </p:grpSp>
    </p:spTree>
  </p:cSld>
  <p:clrMapOvr>
    <a:masterClrMapping/>
  </p:clrMapOvr>
  <p:transition spd="med">
    <p:cover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05F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95325" y="1485900"/>
            <a:ext cx="5305425" cy="1066800"/>
          </a:xfrm>
          <a:custGeom>
            <a:avLst/>
            <a:gdLst/>
            <a:ahLst/>
            <a:cxnLst/>
            <a:rect r="r" b="b" t="t" l="l"/>
            <a:pathLst>
              <a:path h="1066800" w="5305425">
                <a:moveTo>
                  <a:pt x="0" y="0"/>
                </a:moveTo>
                <a:lnTo>
                  <a:pt x="5305425" y="0"/>
                </a:lnTo>
                <a:lnTo>
                  <a:pt x="5305425" y="1066800"/>
                </a:lnTo>
                <a:lnTo>
                  <a:pt x="0" y="1066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95325" y="2733675"/>
            <a:ext cx="5305425" cy="1066800"/>
          </a:xfrm>
          <a:custGeom>
            <a:avLst/>
            <a:gdLst/>
            <a:ahLst/>
            <a:cxnLst/>
            <a:rect r="r" b="b" t="t" l="l"/>
            <a:pathLst>
              <a:path h="1066800" w="5305425">
                <a:moveTo>
                  <a:pt x="0" y="0"/>
                </a:moveTo>
                <a:lnTo>
                  <a:pt x="5305425" y="0"/>
                </a:lnTo>
                <a:lnTo>
                  <a:pt x="5305425" y="1066800"/>
                </a:lnTo>
                <a:lnTo>
                  <a:pt x="0" y="1066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95325" y="3981450"/>
            <a:ext cx="5305425" cy="1066800"/>
          </a:xfrm>
          <a:custGeom>
            <a:avLst/>
            <a:gdLst/>
            <a:ahLst/>
            <a:cxnLst/>
            <a:rect r="r" b="b" t="t" l="l"/>
            <a:pathLst>
              <a:path h="1066800" w="5305425">
                <a:moveTo>
                  <a:pt x="0" y="0"/>
                </a:moveTo>
                <a:lnTo>
                  <a:pt x="5305425" y="0"/>
                </a:lnTo>
                <a:lnTo>
                  <a:pt x="5305425" y="1066800"/>
                </a:lnTo>
                <a:lnTo>
                  <a:pt x="0" y="1066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95325" y="5229225"/>
            <a:ext cx="5305425" cy="1066800"/>
          </a:xfrm>
          <a:custGeom>
            <a:avLst/>
            <a:gdLst/>
            <a:ahLst/>
            <a:cxnLst/>
            <a:rect r="r" b="b" t="t" l="l"/>
            <a:pathLst>
              <a:path h="1066800" w="5305425">
                <a:moveTo>
                  <a:pt x="0" y="0"/>
                </a:moveTo>
                <a:lnTo>
                  <a:pt x="5305425" y="0"/>
                </a:lnTo>
                <a:lnTo>
                  <a:pt x="5305425" y="1066800"/>
                </a:lnTo>
                <a:lnTo>
                  <a:pt x="0" y="1066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191250" y="1485900"/>
            <a:ext cx="5305425" cy="1066800"/>
          </a:xfrm>
          <a:custGeom>
            <a:avLst/>
            <a:gdLst/>
            <a:ahLst/>
            <a:cxnLst/>
            <a:rect r="r" b="b" t="t" l="l"/>
            <a:pathLst>
              <a:path h="1066800" w="5305425">
                <a:moveTo>
                  <a:pt x="0" y="0"/>
                </a:moveTo>
                <a:lnTo>
                  <a:pt x="5305425" y="0"/>
                </a:lnTo>
                <a:lnTo>
                  <a:pt x="5305425" y="1066800"/>
                </a:lnTo>
                <a:lnTo>
                  <a:pt x="0" y="1066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191250" y="2733675"/>
            <a:ext cx="5305425" cy="1066800"/>
          </a:xfrm>
          <a:custGeom>
            <a:avLst/>
            <a:gdLst/>
            <a:ahLst/>
            <a:cxnLst/>
            <a:rect r="r" b="b" t="t" l="l"/>
            <a:pathLst>
              <a:path h="1066800" w="5305425">
                <a:moveTo>
                  <a:pt x="0" y="0"/>
                </a:moveTo>
                <a:lnTo>
                  <a:pt x="5305425" y="0"/>
                </a:lnTo>
                <a:lnTo>
                  <a:pt x="5305425" y="1066800"/>
                </a:lnTo>
                <a:lnTo>
                  <a:pt x="0" y="1066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191250" y="3981450"/>
            <a:ext cx="5305425" cy="1066800"/>
          </a:xfrm>
          <a:custGeom>
            <a:avLst/>
            <a:gdLst/>
            <a:ahLst/>
            <a:cxnLst/>
            <a:rect r="r" b="b" t="t" l="l"/>
            <a:pathLst>
              <a:path h="1066800" w="5305425">
                <a:moveTo>
                  <a:pt x="0" y="0"/>
                </a:moveTo>
                <a:lnTo>
                  <a:pt x="5305425" y="0"/>
                </a:lnTo>
                <a:lnTo>
                  <a:pt x="5305425" y="1066800"/>
                </a:lnTo>
                <a:lnTo>
                  <a:pt x="0" y="1066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191250" y="5229225"/>
            <a:ext cx="5305425" cy="1066800"/>
          </a:xfrm>
          <a:custGeom>
            <a:avLst/>
            <a:gdLst/>
            <a:ahLst/>
            <a:cxnLst/>
            <a:rect r="r" b="b" t="t" l="l"/>
            <a:pathLst>
              <a:path h="1066800" w="5305425">
                <a:moveTo>
                  <a:pt x="0" y="0"/>
                </a:moveTo>
                <a:lnTo>
                  <a:pt x="5305425" y="0"/>
                </a:lnTo>
                <a:lnTo>
                  <a:pt x="5305425" y="1066800"/>
                </a:lnTo>
                <a:lnTo>
                  <a:pt x="0" y="1066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0477500" y="6457950"/>
            <a:ext cx="1714500" cy="400050"/>
            <a:chOff x="0" y="0"/>
            <a:chExt cx="1714500" cy="4000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14500" cy="400050"/>
            </a:xfrm>
            <a:custGeom>
              <a:avLst/>
              <a:gdLst/>
              <a:ahLst/>
              <a:cxnLst/>
              <a:rect r="r" b="b" t="t" l="l"/>
              <a:pathLst>
                <a:path h="400050" w="1714500">
                  <a:moveTo>
                    <a:pt x="0" y="0"/>
                  </a:moveTo>
                  <a:lnTo>
                    <a:pt x="0" y="400050"/>
                  </a:lnTo>
                  <a:lnTo>
                    <a:pt x="1714500" y="400050"/>
                  </a:lnTo>
                  <a:lnTo>
                    <a:pt x="1714500" y="0"/>
                  </a:lnTo>
                  <a:close/>
                </a:path>
              </a:pathLst>
            </a:custGeom>
            <a:solidFill>
              <a:srgbClr val="100C35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342245" y="6343650"/>
            <a:ext cx="1754505" cy="419100"/>
            <a:chOff x="0" y="0"/>
            <a:chExt cx="2339340" cy="558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39340" cy="558800"/>
            </a:xfrm>
            <a:custGeom>
              <a:avLst/>
              <a:gdLst/>
              <a:ahLst/>
              <a:cxnLst/>
              <a:rect r="r" b="b" t="t" l="l"/>
              <a:pathLst>
                <a:path h="558800" w="2339340">
                  <a:moveTo>
                    <a:pt x="0" y="0"/>
                  </a:moveTo>
                  <a:lnTo>
                    <a:pt x="2339340" y="0"/>
                  </a:lnTo>
                  <a:lnTo>
                    <a:pt x="2339340" y="558800"/>
                  </a:lnTo>
                  <a:lnTo>
                    <a:pt x="0" y="558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685800" y="346731"/>
            <a:ext cx="7164300" cy="739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29"/>
              </a:lnSpc>
            </a:pPr>
            <a:r>
              <a:rPr lang="en-US" sz="4235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Principais Comandos do Git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88206" y="1652549"/>
            <a:ext cx="642690" cy="316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1"/>
              </a:lnSpc>
            </a:pPr>
            <a:r>
              <a:rPr lang="en-US" sz="1729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git init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67254" y="1966636"/>
            <a:ext cx="42653" cy="275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8"/>
              </a:lnSpc>
            </a:pPr>
            <a:r>
              <a:rPr lang="en-US" b="true" sz="1470">
                <a:solidFill>
                  <a:srgbClr val="D9E1FF"/>
                </a:solidFill>
                <a:latin typeface="Martel Semi-Bold"/>
                <a:ea typeface="Martel Semi-Bold"/>
                <a:cs typeface="Martel Semi-Bold"/>
                <a:sym typeface="Martel Semi-Bold"/>
              </a:rPr>
              <a:t>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88206" y="5395874"/>
            <a:ext cx="705002" cy="316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1"/>
              </a:lnSpc>
            </a:pPr>
            <a:r>
              <a:rPr lang="en-US" sz="1729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git pull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94717" y="5709961"/>
            <a:ext cx="42653" cy="275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8"/>
              </a:lnSpc>
            </a:pPr>
            <a:r>
              <a:rPr lang="en-US" b="true" sz="1470">
                <a:solidFill>
                  <a:srgbClr val="D9E1FF"/>
                </a:solidFill>
                <a:latin typeface="Martel Semi-Bold"/>
                <a:ea typeface="Martel Semi-Bold"/>
                <a:cs typeface="Martel Semi-Bold"/>
                <a:sym typeface="Martel Semi-Bold"/>
              </a:rPr>
              <a:t>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88206" y="2900324"/>
            <a:ext cx="962301" cy="316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1"/>
              </a:lnSpc>
            </a:pPr>
            <a:r>
              <a:rPr lang="en-US" sz="1729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git status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43088" y="3214411"/>
            <a:ext cx="42653" cy="275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8"/>
              </a:lnSpc>
            </a:pPr>
            <a:r>
              <a:rPr lang="en-US" b="true" sz="1470">
                <a:solidFill>
                  <a:srgbClr val="D9E1FF"/>
                </a:solidFill>
                <a:latin typeface="Martel Semi-Bold"/>
                <a:ea typeface="Martel Semi-Bold"/>
                <a:cs typeface="Martel Semi-Bold"/>
                <a:sym typeface="Martel Semi-Bold"/>
              </a:rPr>
              <a:t>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88206" y="4148099"/>
            <a:ext cx="1094889" cy="316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1"/>
              </a:lnSpc>
            </a:pPr>
            <a:r>
              <a:rPr lang="en-US" sz="1729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git commit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56188" y="4462186"/>
            <a:ext cx="42653" cy="275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8"/>
              </a:lnSpc>
            </a:pPr>
            <a:r>
              <a:rPr lang="en-US" b="true" sz="1470">
                <a:solidFill>
                  <a:srgbClr val="D9E1FF"/>
                </a:solidFill>
                <a:latin typeface="Martel Semi-Bold"/>
                <a:ea typeface="Martel Semi-Bold"/>
                <a:cs typeface="Martel Semi-Bold"/>
                <a:sym typeface="Martel Semi-Bold"/>
              </a:rPr>
              <a:t>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096563" y="3214411"/>
            <a:ext cx="42653" cy="275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8"/>
              </a:lnSpc>
            </a:pPr>
            <a:r>
              <a:rPr lang="en-US" b="true" sz="1470">
                <a:solidFill>
                  <a:srgbClr val="D9E1FF"/>
                </a:solidFill>
                <a:latin typeface="Martel Semi-Bold"/>
                <a:ea typeface="Martel Semi-Bold"/>
                <a:cs typeface="Martel Semi-Bold"/>
                <a:sym typeface="Martel Semi-Bold"/>
              </a:rPr>
              <a:t>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376540" y="4148099"/>
            <a:ext cx="842039" cy="316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1"/>
              </a:lnSpc>
            </a:pPr>
            <a:r>
              <a:rPr lang="en-US" sz="1729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git push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898729" y="4462186"/>
            <a:ext cx="42653" cy="275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8"/>
              </a:lnSpc>
            </a:pPr>
            <a:r>
              <a:rPr lang="en-US" b="true" sz="1470">
                <a:solidFill>
                  <a:srgbClr val="D9E1FF"/>
                </a:solidFill>
                <a:latin typeface="Martel Semi-Bold"/>
                <a:ea typeface="Martel Semi-Bold"/>
                <a:cs typeface="Martel Semi-Bold"/>
                <a:sym typeface="Martel Semi-Bold"/>
              </a:rPr>
              <a:t>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376540" y="1652549"/>
            <a:ext cx="891892" cy="316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1"/>
              </a:lnSpc>
            </a:pPr>
            <a:r>
              <a:rPr lang="en-US" sz="1729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git clone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904149" y="1966636"/>
            <a:ext cx="42653" cy="275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8"/>
              </a:lnSpc>
            </a:pPr>
            <a:r>
              <a:rPr lang="en-US" b="true" sz="1470">
                <a:solidFill>
                  <a:srgbClr val="D9E1FF"/>
                </a:solidFill>
                <a:latin typeface="Martel Semi-Bold"/>
                <a:ea typeface="Martel Semi-Bold"/>
                <a:cs typeface="Martel Semi-Bold"/>
                <a:sym typeface="Martel Semi-Bold"/>
              </a:rPr>
              <a:t>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376540" y="5395874"/>
            <a:ext cx="1049550" cy="316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1"/>
              </a:lnSpc>
            </a:pPr>
            <a:r>
              <a:rPr lang="en-US" sz="1729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git branch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892757" y="5709961"/>
            <a:ext cx="42653" cy="275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8"/>
              </a:lnSpc>
            </a:pPr>
            <a:r>
              <a:rPr lang="en-US" b="true" sz="1470">
                <a:solidFill>
                  <a:srgbClr val="D9E1FF"/>
                </a:solidFill>
                <a:latin typeface="Martel Semi-Bold"/>
                <a:ea typeface="Martel Semi-Bold"/>
                <a:cs typeface="Martel Semi-Bold"/>
                <a:sym typeface="Martel Semi-Bold"/>
              </a:rPr>
              <a:t> 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88206" y="1966636"/>
            <a:ext cx="2899820" cy="248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8"/>
              </a:lnSpc>
            </a:pPr>
            <a:r>
              <a:rPr lang="en-US" b="true" sz="1470">
                <a:solidFill>
                  <a:srgbClr val="D9E1FF"/>
                </a:solidFill>
                <a:latin typeface="Martel Semi-Bold"/>
                <a:ea typeface="Martel Semi-Bold"/>
                <a:cs typeface="Martel Semi-Bold"/>
                <a:sym typeface="Martel Semi-Bold"/>
              </a:rPr>
              <a:t>Cria um novo repositório local.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88206" y="5709961"/>
            <a:ext cx="3477377" cy="248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8"/>
              </a:lnSpc>
            </a:pPr>
            <a:r>
              <a:rPr lang="en-US" b="true" sz="1470">
                <a:solidFill>
                  <a:srgbClr val="D9E1FF"/>
                </a:solidFill>
                <a:latin typeface="Martel Semi-Bold"/>
                <a:ea typeface="Martel Semi-Bold"/>
                <a:cs typeface="Martel Semi-Bold"/>
                <a:sym typeface="Martel Semi-Bold"/>
              </a:rPr>
              <a:t>Baixa e integra alterações do remoto.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88206" y="4462186"/>
            <a:ext cx="3772633" cy="248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8"/>
              </a:lnSpc>
            </a:pPr>
            <a:r>
              <a:rPr lang="en-US" b="true" sz="1470">
                <a:solidFill>
                  <a:srgbClr val="D9E1FF"/>
                </a:solidFill>
                <a:latin typeface="Martel Semi-Bold"/>
                <a:ea typeface="Martel Semi-Bold"/>
                <a:cs typeface="Martel Semi-Bold"/>
                <a:sym typeface="Martel Semi-Bold"/>
              </a:rPr>
              <a:t>Registra as mudanças no histórico local.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88206" y="3214411"/>
            <a:ext cx="3960324" cy="248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8"/>
              </a:lnSpc>
            </a:pPr>
            <a:r>
              <a:rPr lang="en-US" b="true" sz="1470">
                <a:solidFill>
                  <a:srgbClr val="D9E1FF"/>
                </a:solidFill>
                <a:latin typeface="Martel Semi-Bold"/>
                <a:ea typeface="Martel Semi-Bold"/>
                <a:cs typeface="Martel Semi-Bold"/>
                <a:sym typeface="Martel Semi-Bold"/>
              </a:rPr>
              <a:t>Mostra quais arquivos foram modificados.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376540" y="5709961"/>
            <a:ext cx="2972152" cy="248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8"/>
              </a:lnSpc>
            </a:pPr>
            <a:r>
              <a:rPr lang="en-US" b="true" sz="1470">
                <a:solidFill>
                  <a:srgbClr val="D9E1FF"/>
                </a:solidFill>
                <a:latin typeface="Martel Semi-Bold"/>
                <a:ea typeface="Martel Semi-Bold"/>
                <a:cs typeface="Martel Semi-Bold"/>
                <a:sym typeface="Martel Semi-Bold"/>
              </a:rPr>
              <a:t>Lista, cria ou troca de branches.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376540" y="4462186"/>
            <a:ext cx="3927396" cy="248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8"/>
              </a:lnSpc>
            </a:pPr>
            <a:r>
              <a:rPr lang="en-US" b="true" sz="1470">
                <a:solidFill>
                  <a:srgbClr val="D9E1FF"/>
                </a:solidFill>
                <a:latin typeface="Martel Semi-Bold"/>
                <a:ea typeface="Martel Semi-Bold"/>
                <a:cs typeface="Martel Semi-Bold"/>
                <a:sym typeface="Martel Semi-Bold"/>
              </a:rPr>
              <a:t>Envia commits para o repositório remoto.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376540" y="1966636"/>
            <a:ext cx="4493152" cy="248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8"/>
              </a:lnSpc>
            </a:pPr>
            <a:r>
              <a:rPr lang="en-US" b="true" sz="1470">
                <a:solidFill>
                  <a:srgbClr val="D9E1FF"/>
                </a:solidFill>
                <a:latin typeface="Martel Semi-Bold"/>
                <a:ea typeface="Martel Semi-Bold"/>
                <a:cs typeface="Martel Semi-Bold"/>
                <a:sym typeface="Martel Semi-Bold"/>
              </a:rPr>
              <a:t>Copia um repositório remoto para sua máquina.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0009368" y="6323929"/>
            <a:ext cx="5558704" cy="1304925"/>
            <a:chOff x="0" y="0"/>
            <a:chExt cx="5558704" cy="130492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558704" cy="1304925"/>
            </a:xfrm>
            <a:custGeom>
              <a:avLst/>
              <a:gdLst/>
              <a:ahLst/>
              <a:cxnLst/>
              <a:rect r="r" b="b" t="t" l="l"/>
              <a:pathLst>
                <a:path h="1304925" w="5558704">
                  <a:moveTo>
                    <a:pt x="0" y="0"/>
                  </a:moveTo>
                  <a:lnTo>
                    <a:pt x="0" y="1304925"/>
                  </a:lnTo>
                  <a:lnTo>
                    <a:pt x="5558704" y="1304925"/>
                  </a:lnTo>
                  <a:lnTo>
                    <a:pt x="5558704" y="0"/>
                  </a:lnTo>
                  <a:close/>
                </a:path>
              </a:pathLst>
            </a:custGeom>
            <a:solidFill>
              <a:srgbClr val="536174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6376540" y="2745829"/>
            <a:ext cx="659408" cy="318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1"/>
              </a:lnSpc>
            </a:pPr>
            <a:r>
              <a:rPr lang="en-US" sz="1729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git add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360076" y="3128581"/>
            <a:ext cx="3960324" cy="248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8"/>
              </a:lnSpc>
            </a:pPr>
            <a:r>
              <a:rPr lang="en-US" b="true" sz="1470">
                <a:solidFill>
                  <a:srgbClr val="D9E1FF"/>
                </a:solidFill>
                <a:latin typeface="Martel Semi-Bold"/>
                <a:ea typeface="Martel Semi-Bold"/>
                <a:cs typeface="Martel Semi-Bold"/>
                <a:sym typeface="Martel Semi-Bold"/>
              </a:rPr>
              <a:t>Prepara arquivos para o proximo commit</a:t>
            </a:r>
          </a:p>
        </p:txBody>
      </p:sp>
    </p:spTree>
  </p:cSld>
  <p:clrMapOvr>
    <a:masterClrMapping/>
  </p:clrMapOvr>
  <p:transition spd="med">
    <p:cover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05F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42093" y="3989572"/>
            <a:ext cx="2286603" cy="1421798"/>
            <a:chOff x="0" y="0"/>
            <a:chExt cx="1981200" cy="12319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81200" cy="1231900"/>
            </a:xfrm>
            <a:custGeom>
              <a:avLst/>
              <a:gdLst/>
              <a:ahLst/>
              <a:cxnLst/>
              <a:rect r="r" b="b" t="t" l="l"/>
              <a:pathLst>
                <a:path h="1231900" w="1981200">
                  <a:moveTo>
                    <a:pt x="27940" y="0"/>
                  </a:moveTo>
                  <a:cubicBezTo>
                    <a:pt x="20193" y="0"/>
                    <a:pt x="13589" y="2667"/>
                    <a:pt x="8128" y="8128"/>
                  </a:cubicBezTo>
                  <a:cubicBezTo>
                    <a:pt x="2667" y="13589"/>
                    <a:pt x="0" y="20193"/>
                    <a:pt x="0" y="27813"/>
                  </a:cubicBezTo>
                  <a:lnTo>
                    <a:pt x="0" y="1204087"/>
                  </a:lnTo>
                  <a:cubicBezTo>
                    <a:pt x="0" y="1211707"/>
                    <a:pt x="2794" y="1218311"/>
                    <a:pt x="8128" y="1223772"/>
                  </a:cubicBezTo>
                  <a:cubicBezTo>
                    <a:pt x="13462" y="1229233"/>
                    <a:pt x="20193" y="1231900"/>
                    <a:pt x="27940" y="1231900"/>
                  </a:cubicBezTo>
                  <a:lnTo>
                    <a:pt x="1953260" y="1231900"/>
                  </a:lnTo>
                  <a:cubicBezTo>
                    <a:pt x="1961007" y="1231900"/>
                    <a:pt x="1967611" y="1229233"/>
                    <a:pt x="1973072" y="1223772"/>
                  </a:cubicBezTo>
                  <a:cubicBezTo>
                    <a:pt x="1978533" y="1218311"/>
                    <a:pt x="1981200" y="1211707"/>
                    <a:pt x="1981200" y="1203960"/>
                  </a:cubicBezTo>
                  <a:lnTo>
                    <a:pt x="1981200" y="27940"/>
                  </a:lnTo>
                  <a:cubicBezTo>
                    <a:pt x="1981200" y="20193"/>
                    <a:pt x="1978533" y="13589"/>
                    <a:pt x="1973072" y="8128"/>
                  </a:cubicBezTo>
                  <a:cubicBezTo>
                    <a:pt x="1967611" y="2667"/>
                    <a:pt x="1961007" y="0"/>
                    <a:pt x="195326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457058" y="4024490"/>
            <a:ext cx="2244742" cy="1386879"/>
            <a:chOff x="0" y="0"/>
            <a:chExt cx="1993900" cy="12319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93900" cy="1231900"/>
            </a:xfrm>
            <a:custGeom>
              <a:avLst/>
              <a:gdLst/>
              <a:ahLst/>
              <a:cxnLst/>
              <a:rect r="r" b="b" t="t" l="l"/>
              <a:pathLst>
                <a:path h="1231900" w="1993900">
                  <a:moveTo>
                    <a:pt x="27940" y="0"/>
                  </a:moveTo>
                  <a:cubicBezTo>
                    <a:pt x="20193" y="0"/>
                    <a:pt x="13589" y="2667"/>
                    <a:pt x="8128" y="8128"/>
                  </a:cubicBezTo>
                  <a:cubicBezTo>
                    <a:pt x="2667" y="13589"/>
                    <a:pt x="0" y="20193"/>
                    <a:pt x="0" y="27940"/>
                  </a:cubicBezTo>
                  <a:lnTo>
                    <a:pt x="0" y="1203960"/>
                  </a:lnTo>
                  <a:cubicBezTo>
                    <a:pt x="0" y="1211707"/>
                    <a:pt x="2794" y="1218184"/>
                    <a:pt x="8128" y="1223645"/>
                  </a:cubicBezTo>
                  <a:cubicBezTo>
                    <a:pt x="13462" y="1229106"/>
                    <a:pt x="20193" y="1231900"/>
                    <a:pt x="27940" y="1231900"/>
                  </a:cubicBezTo>
                  <a:lnTo>
                    <a:pt x="1965960" y="1231900"/>
                  </a:lnTo>
                  <a:cubicBezTo>
                    <a:pt x="1973707" y="1231900"/>
                    <a:pt x="1980311" y="1229233"/>
                    <a:pt x="1985772" y="1223772"/>
                  </a:cubicBezTo>
                  <a:cubicBezTo>
                    <a:pt x="1991233" y="1218311"/>
                    <a:pt x="1993900" y="1211834"/>
                    <a:pt x="1993900" y="1204087"/>
                  </a:cubicBezTo>
                  <a:lnTo>
                    <a:pt x="1993900" y="27813"/>
                  </a:lnTo>
                  <a:cubicBezTo>
                    <a:pt x="1993900" y="20193"/>
                    <a:pt x="1991106" y="13589"/>
                    <a:pt x="1985772" y="8128"/>
                  </a:cubicBezTo>
                  <a:cubicBezTo>
                    <a:pt x="1980438" y="2667"/>
                    <a:pt x="1973707" y="0"/>
                    <a:pt x="196596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525125" y="5553075"/>
            <a:ext cx="1666875" cy="1304925"/>
            <a:chOff x="0" y="0"/>
            <a:chExt cx="1666875" cy="13049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66875" cy="1304925"/>
            </a:xfrm>
            <a:custGeom>
              <a:avLst/>
              <a:gdLst/>
              <a:ahLst/>
              <a:cxnLst/>
              <a:rect r="r" b="b" t="t" l="l"/>
              <a:pathLst>
                <a:path h="1304925" w="1666875">
                  <a:moveTo>
                    <a:pt x="0" y="0"/>
                  </a:moveTo>
                  <a:lnTo>
                    <a:pt x="0" y="1304925"/>
                  </a:lnTo>
                  <a:lnTo>
                    <a:pt x="1666875" y="1304925"/>
                  </a:lnTo>
                  <a:lnTo>
                    <a:pt x="1666875" y="0"/>
                  </a:lnTo>
                  <a:close/>
                </a:path>
              </a:pathLst>
            </a:custGeom>
            <a:solidFill>
              <a:srgbClr val="100C3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342245" y="6343650"/>
            <a:ext cx="1754505" cy="419100"/>
            <a:chOff x="0" y="0"/>
            <a:chExt cx="2339340" cy="558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39340" cy="558800"/>
            </a:xfrm>
            <a:custGeom>
              <a:avLst/>
              <a:gdLst/>
              <a:ahLst/>
              <a:cxnLst/>
              <a:rect r="r" b="b" t="t" l="l"/>
              <a:pathLst>
                <a:path h="558800" w="2339340">
                  <a:moveTo>
                    <a:pt x="0" y="0"/>
                  </a:moveTo>
                  <a:lnTo>
                    <a:pt x="2339340" y="0"/>
                  </a:lnTo>
                  <a:lnTo>
                    <a:pt x="2339340" y="558800"/>
                  </a:lnTo>
                  <a:lnTo>
                    <a:pt x="0" y="558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3304363" y="134123"/>
            <a:ext cx="5583273" cy="697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39"/>
              </a:lnSpc>
            </a:pPr>
            <a:r>
              <a:rPr lang="en-US" sz="395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Ferramentas do GitHub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349128" y="5430419"/>
            <a:ext cx="65794" cy="330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</a:pPr>
            <a:r>
              <a:rPr lang="en-US" sz="1828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592609" y="5734594"/>
            <a:ext cx="3047222" cy="893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0"/>
              </a:lnSpc>
            </a:pPr>
            <a:r>
              <a:rPr lang="en-US" b="true" sz="1579">
                <a:solidFill>
                  <a:srgbClr val="D9E1FF"/>
                </a:solidFill>
                <a:latin typeface="Martel Semi-Bold"/>
                <a:ea typeface="Martel Semi-Bold"/>
                <a:cs typeface="Martel Semi-Bold"/>
                <a:sym typeface="Martel Semi-Bold"/>
              </a:rPr>
              <a:t>Automação de testes, deploy e fluxos de trabalho com integração contínua.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97730" y="846407"/>
            <a:ext cx="9996540" cy="242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4"/>
              </a:lnSpc>
            </a:pPr>
            <a:r>
              <a:rPr lang="en-US" b="true" sz="1453">
                <a:solidFill>
                  <a:srgbClr val="D9E1FF"/>
                </a:solidFill>
                <a:latin typeface="Martel Semi-Bold"/>
                <a:ea typeface="Martel Semi-Bold"/>
                <a:cs typeface="Martel Semi-Bold"/>
                <a:sym typeface="Martel Semi-Bold"/>
              </a:rPr>
              <a:t>O Git Hub oferece recursos que vão além do versionamento, facilitando a gestão e a colaboração em projetos.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542308" y="5330832"/>
            <a:ext cx="52902" cy="258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8"/>
              </a:lnSpc>
            </a:pPr>
            <a:r>
              <a:rPr lang="en-US" sz="147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667875" y="5553075"/>
            <a:ext cx="5558704" cy="1304925"/>
            <a:chOff x="0" y="0"/>
            <a:chExt cx="5558704" cy="130492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558704" cy="1304925"/>
            </a:xfrm>
            <a:custGeom>
              <a:avLst/>
              <a:gdLst/>
              <a:ahLst/>
              <a:cxnLst/>
              <a:rect r="r" b="b" t="t" l="l"/>
              <a:pathLst>
                <a:path h="1304925" w="5558704">
                  <a:moveTo>
                    <a:pt x="0" y="0"/>
                  </a:moveTo>
                  <a:lnTo>
                    <a:pt x="0" y="1304925"/>
                  </a:lnTo>
                  <a:lnTo>
                    <a:pt x="5558704" y="1304925"/>
                  </a:lnTo>
                  <a:lnTo>
                    <a:pt x="5558704" y="0"/>
                  </a:lnTo>
                  <a:close/>
                </a:path>
              </a:pathLst>
            </a:custGeom>
            <a:solidFill>
              <a:srgbClr val="405FB2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838382" y="5723980"/>
            <a:ext cx="3219297" cy="895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7"/>
              </a:lnSpc>
            </a:pPr>
            <a:r>
              <a:rPr lang="en-US" sz="1619">
                <a:solidFill>
                  <a:srgbClr val="D9E1FF"/>
                </a:solidFill>
                <a:latin typeface="Martel Light"/>
                <a:ea typeface="Martel Light"/>
                <a:cs typeface="Martel Light"/>
                <a:sym typeface="Martel Light"/>
              </a:rPr>
              <a:t>Hospedagem gratuita de sites e portfólios diretamente do repositório.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097730" y="1060927"/>
            <a:ext cx="2674791" cy="2715740"/>
            <a:chOff x="0" y="0"/>
            <a:chExt cx="3566388" cy="3620986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443138"/>
              <a:ext cx="2858908" cy="1766331"/>
              <a:chOff x="0" y="0"/>
              <a:chExt cx="1993900" cy="12319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993900" cy="1231900"/>
              </a:xfrm>
              <a:custGeom>
                <a:avLst/>
                <a:gdLst/>
                <a:ahLst/>
                <a:cxnLst/>
                <a:rect r="r" b="b" t="t" l="l"/>
                <a:pathLst>
                  <a:path h="1231900" w="1993900">
                    <a:moveTo>
                      <a:pt x="27940" y="0"/>
                    </a:moveTo>
                    <a:cubicBezTo>
                      <a:pt x="20193" y="0"/>
                      <a:pt x="13589" y="2667"/>
                      <a:pt x="8128" y="8128"/>
                    </a:cubicBezTo>
                    <a:cubicBezTo>
                      <a:pt x="2667" y="13589"/>
                      <a:pt x="0" y="20193"/>
                      <a:pt x="0" y="27940"/>
                    </a:cubicBezTo>
                    <a:lnTo>
                      <a:pt x="0" y="1203960"/>
                    </a:lnTo>
                    <a:cubicBezTo>
                      <a:pt x="0" y="1211707"/>
                      <a:pt x="2794" y="1218184"/>
                      <a:pt x="8128" y="1223645"/>
                    </a:cubicBezTo>
                    <a:cubicBezTo>
                      <a:pt x="13462" y="1229106"/>
                      <a:pt x="20193" y="1231900"/>
                      <a:pt x="27940" y="1231900"/>
                    </a:cubicBezTo>
                    <a:lnTo>
                      <a:pt x="1965960" y="1231900"/>
                    </a:lnTo>
                    <a:cubicBezTo>
                      <a:pt x="1973707" y="1231900"/>
                      <a:pt x="1980311" y="1229233"/>
                      <a:pt x="1985772" y="1223772"/>
                    </a:cubicBezTo>
                    <a:cubicBezTo>
                      <a:pt x="1991233" y="1218311"/>
                      <a:pt x="1993900" y="1211834"/>
                      <a:pt x="1993900" y="1204087"/>
                    </a:cubicBezTo>
                    <a:lnTo>
                      <a:pt x="1993900" y="27813"/>
                    </a:lnTo>
                    <a:cubicBezTo>
                      <a:pt x="1993900" y="20193"/>
                      <a:pt x="1991106" y="13589"/>
                      <a:pt x="1985772" y="8128"/>
                    </a:cubicBezTo>
                    <a:cubicBezTo>
                      <a:pt x="1980438" y="2667"/>
                      <a:pt x="1973707" y="0"/>
                      <a:pt x="1965960" y="0"/>
                    </a:cubicBezTo>
                    <a:close/>
                  </a:path>
                </a:pathLst>
              </a:custGeom>
              <a:blipFill>
                <a:blip r:embed="rId5"/>
                <a:stretch>
                  <a:fillRect l="0" t="0" r="0" b="0"/>
                </a:stretch>
              </a:blipFill>
            </p:spPr>
          </p:sp>
        </p:grpSp>
        <p:sp>
          <p:nvSpPr>
            <p:cNvPr name="TextBox 21" id="21"/>
            <p:cNvSpPr txBox="true"/>
            <p:nvPr/>
          </p:nvSpPr>
          <p:spPr>
            <a:xfrm rot="0">
              <a:off x="516372" y="-28575"/>
              <a:ext cx="54865" cy="3459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85"/>
                </a:lnSpc>
              </a:pPr>
              <a:r>
                <a:rPr lang="en-US" b="true" sz="1418">
                  <a:solidFill>
                    <a:srgbClr val="D9E1FF"/>
                  </a:solidFill>
                  <a:latin typeface="Martel Semi-Bold"/>
                  <a:ea typeface="Martel Semi-Bold"/>
                  <a:cs typeface="Martel Semi-Bold"/>
                  <a:sym typeface="Martel Semi-Bold"/>
                </a:rPr>
                <a:t> 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2570453"/>
              <a:ext cx="3566388" cy="10505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37"/>
                </a:lnSpc>
              </a:pPr>
              <a:r>
                <a:rPr lang="en-US" sz="1418">
                  <a:solidFill>
                    <a:srgbClr val="D9E1FF"/>
                  </a:solidFill>
                  <a:latin typeface="Martel Light"/>
                  <a:ea typeface="Martel Light"/>
                  <a:cs typeface="Martel Light"/>
                  <a:sym typeface="Martel Light"/>
                </a:rPr>
                <a:t>Ramos independentes para desenvolver funcionalidades sem afetar o código principal.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2182272"/>
              <a:ext cx="1174638" cy="3749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98"/>
                </a:lnSpc>
              </a:pPr>
              <a:r>
                <a:rPr lang="en-US" sz="1641">
                  <a:solidFill>
                    <a:srgbClr val="D9E1FF"/>
                  </a:solidFill>
                  <a:latin typeface="Arimo"/>
                  <a:ea typeface="Arimo"/>
                  <a:cs typeface="Arimo"/>
                  <a:sym typeface="Arimo"/>
                </a:rPr>
                <a:t>Branches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2592609" y="5430419"/>
            <a:ext cx="1664941" cy="330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</a:pPr>
            <a:r>
              <a:rPr lang="en-US" sz="1828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GitHub</a:t>
            </a:r>
            <a:r>
              <a:rPr lang="en-US" sz="1828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828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Actions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5023910" y="1345987"/>
            <a:ext cx="2823907" cy="2430679"/>
            <a:chOff x="0" y="0"/>
            <a:chExt cx="3765209" cy="3240906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2858908" cy="1766331"/>
              <a:chOff x="0" y="0"/>
              <a:chExt cx="1993900" cy="12319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993900" cy="1231900"/>
              </a:xfrm>
              <a:custGeom>
                <a:avLst/>
                <a:gdLst/>
                <a:ahLst/>
                <a:cxnLst/>
                <a:rect r="r" b="b" t="t" l="l"/>
                <a:pathLst>
                  <a:path h="1231900" w="1993900">
                    <a:moveTo>
                      <a:pt x="27940" y="0"/>
                    </a:moveTo>
                    <a:cubicBezTo>
                      <a:pt x="20193" y="0"/>
                      <a:pt x="13589" y="2667"/>
                      <a:pt x="8128" y="8128"/>
                    </a:cubicBezTo>
                    <a:cubicBezTo>
                      <a:pt x="2667" y="13589"/>
                      <a:pt x="0" y="20193"/>
                      <a:pt x="0" y="27940"/>
                    </a:cubicBezTo>
                    <a:lnTo>
                      <a:pt x="0" y="1203960"/>
                    </a:lnTo>
                    <a:cubicBezTo>
                      <a:pt x="0" y="1211707"/>
                      <a:pt x="2794" y="1218184"/>
                      <a:pt x="8128" y="1223645"/>
                    </a:cubicBezTo>
                    <a:cubicBezTo>
                      <a:pt x="13462" y="1229106"/>
                      <a:pt x="20193" y="1231900"/>
                      <a:pt x="27940" y="1231900"/>
                    </a:cubicBezTo>
                    <a:lnTo>
                      <a:pt x="1965960" y="1231900"/>
                    </a:lnTo>
                    <a:cubicBezTo>
                      <a:pt x="1973707" y="1231900"/>
                      <a:pt x="1980311" y="1229233"/>
                      <a:pt x="1985772" y="1223772"/>
                    </a:cubicBezTo>
                    <a:cubicBezTo>
                      <a:pt x="1991233" y="1218311"/>
                      <a:pt x="1993900" y="1211834"/>
                      <a:pt x="1993900" y="1204087"/>
                    </a:cubicBezTo>
                    <a:lnTo>
                      <a:pt x="1993900" y="27940"/>
                    </a:lnTo>
                    <a:cubicBezTo>
                      <a:pt x="1993900" y="20193"/>
                      <a:pt x="1991106" y="13716"/>
                      <a:pt x="1985772" y="8255"/>
                    </a:cubicBezTo>
                    <a:cubicBezTo>
                      <a:pt x="1980438" y="2794"/>
                      <a:pt x="1973707" y="0"/>
                      <a:pt x="1965960" y="0"/>
                    </a:cubicBezTo>
                    <a:close/>
                  </a:path>
                </a:pathLst>
              </a:custGeom>
              <a:blipFill>
                <a:blip r:embed="rId6"/>
                <a:stretch>
                  <a:fillRect l="0" t="0" r="0" b="0"/>
                </a:stretch>
              </a:blipFill>
            </p:spPr>
          </p:sp>
        </p:grpSp>
        <p:sp>
          <p:nvSpPr>
            <p:cNvPr name="TextBox 28" id="28"/>
            <p:cNvSpPr txBox="true"/>
            <p:nvPr/>
          </p:nvSpPr>
          <p:spPr>
            <a:xfrm rot="0">
              <a:off x="494238" y="1911712"/>
              <a:ext cx="78780" cy="3754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98"/>
                </a:lnSpc>
              </a:pPr>
              <a:r>
                <a:rPr lang="en-US" sz="1641">
                  <a:solidFill>
                    <a:srgbClr val="D9E1FF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0" y="2190373"/>
              <a:ext cx="3765209" cy="10505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37"/>
                </a:lnSpc>
              </a:pPr>
              <a:r>
                <a:rPr lang="en-US" sz="1418">
                  <a:solidFill>
                    <a:srgbClr val="D9E1FF"/>
                  </a:solidFill>
                  <a:latin typeface="Martel Light"/>
                  <a:ea typeface="Martel Light"/>
                  <a:cs typeface="Martel Light"/>
                  <a:sym typeface="Martel Light"/>
                </a:rPr>
                <a:t>Solicitações de revisão antes de integrar mudanças ao projeto principal.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0" y="1814892"/>
              <a:ext cx="1832995" cy="3754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98"/>
                </a:lnSpc>
              </a:pPr>
              <a:r>
                <a:rPr lang="en-US" sz="1641">
                  <a:solidFill>
                    <a:srgbClr val="D9E1FF"/>
                  </a:solidFill>
                  <a:latin typeface="Arimo"/>
                  <a:ea typeface="Arimo"/>
                  <a:cs typeface="Arimo"/>
                  <a:sym typeface="Arimo"/>
                </a:rPr>
                <a:t>Pull</a:t>
              </a:r>
              <a:r>
                <a:rPr lang="en-US" sz="1641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r>
                <a:rPr lang="en-US" sz="1641">
                  <a:solidFill>
                    <a:srgbClr val="D9E1FF"/>
                  </a:solidFill>
                  <a:latin typeface="Arimo"/>
                  <a:ea typeface="Arimo"/>
                  <a:cs typeface="Arimo"/>
                  <a:sym typeface="Arimo"/>
                </a:rPr>
                <a:t>Requests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950089" y="1357986"/>
            <a:ext cx="2701801" cy="2387633"/>
            <a:chOff x="0" y="0"/>
            <a:chExt cx="3602402" cy="3183510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2858908" cy="1777654"/>
              <a:chOff x="0" y="0"/>
              <a:chExt cx="1981200" cy="12319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1981200" cy="1231900"/>
              </a:xfrm>
              <a:custGeom>
                <a:avLst/>
                <a:gdLst/>
                <a:ahLst/>
                <a:cxnLst/>
                <a:rect r="r" b="b" t="t" l="l"/>
                <a:pathLst>
                  <a:path h="1231900" w="1981200">
                    <a:moveTo>
                      <a:pt x="27940" y="0"/>
                    </a:moveTo>
                    <a:cubicBezTo>
                      <a:pt x="20193" y="0"/>
                      <a:pt x="13589" y="2667"/>
                      <a:pt x="8128" y="8128"/>
                    </a:cubicBezTo>
                    <a:cubicBezTo>
                      <a:pt x="2667" y="13589"/>
                      <a:pt x="0" y="20193"/>
                      <a:pt x="0" y="27940"/>
                    </a:cubicBezTo>
                    <a:lnTo>
                      <a:pt x="0" y="1203960"/>
                    </a:lnTo>
                    <a:cubicBezTo>
                      <a:pt x="0" y="1211707"/>
                      <a:pt x="2667" y="1218311"/>
                      <a:pt x="8128" y="1223772"/>
                    </a:cubicBezTo>
                    <a:cubicBezTo>
                      <a:pt x="13589" y="1229233"/>
                      <a:pt x="20193" y="1231900"/>
                      <a:pt x="27940" y="1231900"/>
                    </a:cubicBezTo>
                    <a:lnTo>
                      <a:pt x="1953260" y="1231900"/>
                    </a:lnTo>
                    <a:cubicBezTo>
                      <a:pt x="1961007" y="1231900"/>
                      <a:pt x="1967611" y="1229233"/>
                      <a:pt x="1973072" y="1223772"/>
                    </a:cubicBezTo>
                    <a:cubicBezTo>
                      <a:pt x="1978533" y="1218311"/>
                      <a:pt x="1981200" y="1211707"/>
                      <a:pt x="1981200" y="1203960"/>
                    </a:cubicBezTo>
                    <a:lnTo>
                      <a:pt x="1981200" y="27940"/>
                    </a:lnTo>
                    <a:cubicBezTo>
                      <a:pt x="1981200" y="20193"/>
                      <a:pt x="1978533" y="13589"/>
                      <a:pt x="1973072" y="8128"/>
                    </a:cubicBezTo>
                    <a:cubicBezTo>
                      <a:pt x="1967611" y="2667"/>
                      <a:pt x="1961007" y="0"/>
                      <a:pt x="1953260" y="0"/>
                    </a:cubicBezTo>
                    <a:close/>
                  </a:path>
                </a:pathLst>
              </a:custGeom>
              <a:blipFill>
                <a:blip r:embed="rId7"/>
                <a:stretch>
                  <a:fillRect l="0" t="0" r="0" b="0"/>
                </a:stretch>
              </a:blipFill>
            </p:spPr>
          </p:sp>
        </p:grpSp>
        <p:sp>
          <p:nvSpPr>
            <p:cNvPr name="TextBox 34" id="34"/>
            <p:cNvSpPr txBox="true"/>
            <p:nvPr/>
          </p:nvSpPr>
          <p:spPr>
            <a:xfrm rot="0">
              <a:off x="0" y="2132977"/>
              <a:ext cx="3602402" cy="10505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37"/>
                </a:lnSpc>
              </a:pPr>
              <a:r>
                <a:rPr lang="en-US" sz="1418">
                  <a:solidFill>
                    <a:srgbClr val="D9E1FF"/>
                  </a:solidFill>
                  <a:latin typeface="Martel Light"/>
                  <a:ea typeface="Martel Light"/>
                  <a:cs typeface="Martel Light"/>
                  <a:sym typeface="Martel Light"/>
                </a:rPr>
                <a:t>Tarefas, bugs e sugestões organizados em um quadro de acompanhamento.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0" y="1782896"/>
              <a:ext cx="861711" cy="3754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98"/>
                </a:lnSpc>
              </a:pPr>
              <a:r>
                <a:rPr lang="en-US" sz="1641">
                  <a:solidFill>
                    <a:srgbClr val="D9E1FF"/>
                  </a:solidFill>
                  <a:latin typeface="Arimo"/>
                  <a:ea typeface="Arimo"/>
                  <a:cs typeface="Arimo"/>
                  <a:sym typeface="Arimo"/>
                </a:rPr>
                <a:t>Issues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6838382" y="5412337"/>
            <a:ext cx="1565259" cy="347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4"/>
              </a:lnSpc>
            </a:pPr>
            <a:r>
              <a:rPr lang="en-US" sz="187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GitHub</a:t>
            </a:r>
            <a:r>
              <a:rPr lang="en-US" sz="187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87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Pages</a:t>
            </a:r>
          </a:p>
        </p:txBody>
      </p:sp>
    </p:spTree>
  </p:cSld>
  <p:clrMapOvr>
    <a:masterClrMapping/>
  </p:clrMapOvr>
  <p:transition spd="med">
    <p:cover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05F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57400" y="1933575"/>
            <a:ext cx="8077200" cy="2143125"/>
            <a:chOff x="0" y="0"/>
            <a:chExt cx="10769600" cy="2857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769600" cy="2857500"/>
            </a:xfrm>
            <a:custGeom>
              <a:avLst/>
              <a:gdLst/>
              <a:ahLst/>
              <a:cxnLst/>
              <a:rect r="r" b="b" t="t" l="l"/>
              <a:pathLst>
                <a:path h="2857500" w="10769600">
                  <a:moveTo>
                    <a:pt x="27940" y="0"/>
                  </a:moveTo>
                  <a:cubicBezTo>
                    <a:pt x="20193" y="0"/>
                    <a:pt x="13589" y="2667"/>
                    <a:pt x="8128" y="8128"/>
                  </a:cubicBezTo>
                  <a:cubicBezTo>
                    <a:pt x="2667" y="13589"/>
                    <a:pt x="0" y="20193"/>
                    <a:pt x="0" y="27940"/>
                  </a:cubicBezTo>
                  <a:lnTo>
                    <a:pt x="0" y="2829560"/>
                  </a:lnTo>
                  <a:cubicBezTo>
                    <a:pt x="0" y="2837307"/>
                    <a:pt x="2667" y="2843911"/>
                    <a:pt x="8128" y="2849372"/>
                  </a:cubicBezTo>
                  <a:cubicBezTo>
                    <a:pt x="13589" y="2854833"/>
                    <a:pt x="20193" y="2857500"/>
                    <a:pt x="27940" y="2857500"/>
                  </a:cubicBezTo>
                  <a:lnTo>
                    <a:pt x="10741660" y="2857500"/>
                  </a:lnTo>
                  <a:cubicBezTo>
                    <a:pt x="10749407" y="2857500"/>
                    <a:pt x="10756011" y="2854833"/>
                    <a:pt x="10761472" y="2849372"/>
                  </a:cubicBezTo>
                  <a:cubicBezTo>
                    <a:pt x="10766933" y="2843911"/>
                    <a:pt x="10769600" y="2837307"/>
                    <a:pt x="10769600" y="2829560"/>
                  </a:cubicBezTo>
                  <a:lnTo>
                    <a:pt x="10769600" y="27940"/>
                  </a:lnTo>
                  <a:cubicBezTo>
                    <a:pt x="10769600" y="20193"/>
                    <a:pt x="10766933" y="13589"/>
                    <a:pt x="10761472" y="8128"/>
                  </a:cubicBezTo>
                  <a:cubicBezTo>
                    <a:pt x="10756011" y="2667"/>
                    <a:pt x="10749407" y="0"/>
                    <a:pt x="1074166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458450" y="6200775"/>
            <a:ext cx="1733550" cy="657225"/>
            <a:chOff x="0" y="0"/>
            <a:chExt cx="1733550" cy="65722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33550" cy="657225"/>
            </a:xfrm>
            <a:custGeom>
              <a:avLst/>
              <a:gdLst/>
              <a:ahLst/>
              <a:cxnLst/>
              <a:rect r="r" b="b" t="t" l="l"/>
              <a:pathLst>
                <a:path h="657225" w="1733550">
                  <a:moveTo>
                    <a:pt x="0" y="0"/>
                  </a:moveTo>
                  <a:lnTo>
                    <a:pt x="0" y="657225"/>
                  </a:lnTo>
                  <a:lnTo>
                    <a:pt x="1733550" y="657225"/>
                  </a:lnTo>
                  <a:lnTo>
                    <a:pt x="1733550" y="0"/>
                  </a:lnTo>
                  <a:close/>
                </a:path>
              </a:pathLst>
            </a:custGeom>
            <a:solidFill>
              <a:srgbClr val="100C35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342245" y="6343650"/>
            <a:ext cx="1754505" cy="419100"/>
            <a:chOff x="0" y="0"/>
            <a:chExt cx="2339340" cy="558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39340" cy="558800"/>
            </a:xfrm>
            <a:custGeom>
              <a:avLst/>
              <a:gdLst/>
              <a:ahLst/>
              <a:cxnLst/>
              <a:rect r="r" b="b" t="t" l="l"/>
              <a:pathLst>
                <a:path h="558800" w="2339340">
                  <a:moveTo>
                    <a:pt x="0" y="0"/>
                  </a:moveTo>
                  <a:lnTo>
                    <a:pt x="2339340" y="0"/>
                  </a:lnTo>
                  <a:lnTo>
                    <a:pt x="2339340" y="558800"/>
                  </a:lnTo>
                  <a:lnTo>
                    <a:pt x="0" y="558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685800" y="320190"/>
            <a:ext cx="6717859" cy="644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sz="366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Exemplo de Fluxo de Trabalho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58504" y="1307201"/>
            <a:ext cx="38586" cy="251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1"/>
              </a:lnSpc>
            </a:pPr>
            <a:r>
              <a:rPr lang="en-US" b="true" sz="1329">
                <a:solidFill>
                  <a:srgbClr val="D9E1FF"/>
                </a:solidFill>
                <a:latin typeface="Martel Semi-Bold"/>
                <a:ea typeface="Martel Semi-Bold"/>
                <a:cs typeface="Martel Semi-Bold"/>
                <a:sym typeface="Martel Semi-Bold"/>
              </a:rPr>
              <a:t>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89990" y="907921"/>
            <a:ext cx="8421671" cy="254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2"/>
              </a:lnSpc>
            </a:pPr>
            <a:r>
              <a:rPr lang="en-US" b="true" sz="1544">
                <a:solidFill>
                  <a:srgbClr val="D9E1FF"/>
                </a:solidFill>
                <a:latin typeface="Martel Semi-Bold"/>
                <a:ea typeface="Martel Semi-Bold"/>
                <a:cs typeface="Martel Semi-Bold"/>
                <a:sym typeface="Martel Semi-Bold"/>
              </a:rPr>
              <a:t>Este é o ciclo típico de colaboração e num projeto no GitHub, do início ao merge final.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61235" y="5150479"/>
            <a:ext cx="11269531" cy="632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b="true" sz="1773">
                <a:solidFill>
                  <a:srgbClr val="D9E1FF"/>
                </a:solidFill>
                <a:latin typeface="Martel Semi-Bold"/>
                <a:ea typeface="Martel Semi-Bold"/>
                <a:cs typeface="Martel Semi-Bold"/>
                <a:sym typeface="Martel Semi-Bold"/>
              </a:rPr>
              <a:t>Cada fase garante que as mudanças sejam testadas e revisadas antes de entrar no código principal, mantendo o projeto estável e organizado.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386959" y="4238625"/>
            <a:ext cx="1492250" cy="408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b="true" sz="2299">
                <a:solidFill>
                  <a:srgbClr val="D9E1FF"/>
                </a:solidFill>
                <a:latin typeface="Arimo Bold"/>
                <a:ea typeface="Arimo Bold"/>
                <a:cs typeface="Arimo Bold"/>
                <a:sym typeface="Arimo Bold"/>
              </a:rPr>
              <a:t>Configurar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294861" y="4238625"/>
            <a:ext cx="1736725" cy="408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b="true" sz="2299">
                <a:solidFill>
                  <a:srgbClr val="D9E1FF"/>
                </a:solidFill>
                <a:latin typeface="Arimo Bold"/>
                <a:ea typeface="Arimo Bold"/>
                <a:cs typeface="Arimo Bold"/>
                <a:sym typeface="Arimo Bold"/>
              </a:rPr>
              <a:t>Desenvolver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642344" y="4238625"/>
            <a:ext cx="892770" cy="408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b="true" sz="2299">
                <a:solidFill>
                  <a:srgbClr val="D9E1FF"/>
                </a:solidFill>
                <a:latin typeface="Arimo Bold"/>
                <a:ea typeface="Arimo Bold"/>
                <a:cs typeface="Arimo Bold"/>
                <a:sym typeface="Arimo Bold"/>
              </a:rPr>
              <a:t>Enviar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546955" y="4238625"/>
            <a:ext cx="1087239" cy="408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b="true" sz="2299">
                <a:solidFill>
                  <a:srgbClr val="D9E1FF"/>
                </a:solidFill>
                <a:latin typeface="Arimo Bold"/>
                <a:ea typeface="Arimo Bold"/>
                <a:cs typeface="Arimo Bold"/>
                <a:sym typeface="Arimo Bold"/>
              </a:rPr>
              <a:t>Integrar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700869" y="6062892"/>
            <a:ext cx="5558704" cy="1304925"/>
            <a:chOff x="0" y="0"/>
            <a:chExt cx="5558704" cy="130492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558704" cy="1304925"/>
            </a:xfrm>
            <a:custGeom>
              <a:avLst/>
              <a:gdLst/>
              <a:ahLst/>
              <a:cxnLst/>
              <a:rect r="r" b="b" t="t" l="l"/>
              <a:pathLst>
                <a:path h="1304925" w="5558704">
                  <a:moveTo>
                    <a:pt x="0" y="0"/>
                  </a:moveTo>
                  <a:lnTo>
                    <a:pt x="0" y="1304925"/>
                  </a:lnTo>
                  <a:lnTo>
                    <a:pt x="5558704" y="1304925"/>
                  </a:lnTo>
                  <a:lnTo>
                    <a:pt x="5558704" y="0"/>
                  </a:lnTo>
                  <a:close/>
                </a:path>
              </a:pathLst>
            </a:custGeom>
            <a:solidFill>
              <a:srgbClr val="405FB2"/>
            </a:solidFill>
          </p:spPr>
        </p:sp>
      </p:grpSp>
    </p:spTree>
  </p:cSld>
  <p:clrMapOvr>
    <a:masterClrMapping/>
  </p:clrMapOvr>
  <p:transition spd="med">
    <p:cover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05F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85800" y="3192047"/>
            <a:ext cx="774617" cy="687981"/>
          </a:xfrm>
          <a:custGeom>
            <a:avLst/>
            <a:gdLst/>
            <a:ahLst/>
            <a:cxnLst/>
            <a:rect r="r" b="b" t="t" l="l"/>
            <a:pathLst>
              <a:path h="687981" w="774617">
                <a:moveTo>
                  <a:pt x="0" y="0"/>
                </a:moveTo>
                <a:lnTo>
                  <a:pt x="774617" y="0"/>
                </a:lnTo>
                <a:lnTo>
                  <a:pt x="774617" y="687982"/>
                </a:lnTo>
                <a:lnTo>
                  <a:pt x="0" y="6879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85800" y="1402774"/>
            <a:ext cx="841586" cy="757582"/>
          </a:xfrm>
          <a:custGeom>
            <a:avLst/>
            <a:gdLst/>
            <a:ahLst/>
            <a:cxnLst/>
            <a:rect r="r" b="b" t="t" l="l"/>
            <a:pathLst>
              <a:path h="757582" w="841586">
                <a:moveTo>
                  <a:pt x="0" y="0"/>
                </a:moveTo>
                <a:lnTo>
                  <a:pt x="841586" y="0"/>
                </a:lnTo>
                <a:lnTo>
                  <a:pt x="841586" y="757582"/>
                </a:lnTo>
                <a:lnTo>
                  <a:pt x="0" y="7575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85800" y="4787970"/>
            <a:ext cx="801709" cy="797388"/>
          </a:xfrm>
          <a:custGeom>
            <a:avLst/>
            <a:gdLst/>
            <a:ahLst/>
            <a:cxnLst/>
            <a:rect r="r" b="b" t="t" l="l"/>
            <a:pathLst>
              <a:path h="797388" w="801709">
                <a:moveTo>
                  <a:pt x="0" y="0"/>
                </a:moveTo>
                <a:lnTo>
                  <a:pt x="801709" y="0"/>
                </a:lnTo>
                <a:lnTo>
                  <a:pt x="801709" y="797388"/>
                </a:lnTo>
                <a:lnTo>
                  <a:pt x="0" y="7973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204566" y="4899136"/>
            <a:ext cx="597909" cy="611700"/>
          </a:xfrm>
          <a:custGeom>
            <a:avLst/>
            <a:gdLst/>
            <a:ahLst/>
            <a:cxnLst/>
            <a:rect r="r" b="b" t="t" l="l"/>
            <a:pathLst>
              <a:path h="611700" w="597909">
                <a:moveTo>
                  <a:pt x="0" y="0"/>
                </a:moveTo>
                <a:lnTo>
                  <a:pt x="597909" y="0"/>
                </a:lnTo>
                <a:lnTo>
                  <a:pt x="597909" y="611701"/>
                </a:lnTo>
                <a:lnTo>
                  <a:pt x="0" y="61170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111992" y="1492377"/>
            <a:ext cx="769760" cy="706079"/>
          </a:xfrm>
          <a:custGeom>
            <a:avLst/>
            <a:gdLst/>
            <a:ahLst/>
            <a:cxnLst/>
            <a:rect r="r" b="b" t="t" l="l"/>
            <a:pathLst>
              <a:path h="706079" w="769760">
                <a:moveTo>
                  <a:pt x="0" y="0"/>
                </a:moveTo>
                <a:lnTo>
                  <a:pt x="769761" y="0"/>
                </a:lnTo>
                <a:lnTo>
                  <a:pt x="769761" y="706079"/>
                </a:lnTo>
                <a:lnTo>
                  <a:pt x="0" y="70607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118222" y="3298822"/>
            <a:ext cx="693468" cy="648241"/>
          </a:xfrm>
          <a:custGeom>
            <a:avLst/>
            <a:gdLst/>
            <a:ahLst/>
            <a:cxnLst/>
            <a:rect r="r" b="b" t="t" l="l"/>
            <a:pathLst>
              <a:path h="648241" w="693468">
                <a:moveTo>
                  <a:pt x="0" y="0"/>
                </a:moveTo>
                <a:lnTo>
                  <a:pt x="693467" y="0"/>
                </a:lnTo>
                <a:lnTo>
                  <a:pt x="693467" y="648241"/>
                </a:lnTo>
                <a:lnTo>
                  <a:pt x="0" y="64824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391775" y="6172200"/>
            <a:ext cx="1800225" cy="685800"/>
            <a:chOff x="0" y="0"/>
            <a:chExt cx="1800225" cy="685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00225" cy="685800"/>
            </a:xfrm>
            <a:custGeom>
              <a:avLst/>
              <a:gdLst/>
              <a:ahLst/>
              <a:cxnLst/>
              <a:rect r="r" b="b" t="t" l="l"/>
              <a:pathLst>
                <a:path h="685800" w="1800225">
                  <a:moveTo>
                    <a:pt x="0" y="0"/>
                  </a:moveTo>
                  <a:lnTo>
                    <a:pt x="0" y="685800"/>
                  </a:lnTo>
                  <a:lnTo>
                    <a:pt x="1800225" y="685800"/>
                  </a:lnTo>
                  <a:lnTo>
                    <a:pt x="1800225" y="0"/>
                  </a:lnTo>
                  <a:close/>
                </a:path>
              </a:pathLst>
            </a:custGeom>
            <a:solidFill>
              <a:srgbClr val="100C35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342245" y="6343650"/>
            <a:ext cx="1754505" cy="419100"/>
            <a:chOff x="0" y="0"/>
            <a:chExt cx="2339340" cy="558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39340" cy="558800"/>
            </a:xfrm>
            <a:custGeom>
              <a:avLst/>
              <a:gdLst/>
              <a:ahLst/>
              <a:cxnLst/>
              <a:rect r="r" b="b" t="t" l="l"/>
              <a:pathLst>
                <a:path h="558800" w="2339340">
                  <a:moveTo>
                    <a:pt x="0" y="0"/>
                  </a:moveTo>
                  <a:lnTo>
                    <a:pt x="2339340" y="0"/>
                  </a:lnTo>
                  <a:lnTo>
                    <a:pt x="2339340" y="558800"/>
                  </a:lnTo>
                  <a:lnTo>
                    <a:pt x="0" y="558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698002" y="631758"/>
            <a:ext cx="5449292" cy="688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Vantagens e Aplicações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98002" y="5503631"/>
            <a:ext cx="1040635" cy="287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Segurança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31150" y="5774426"/>
            <a:ext cx="38586" cy="251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1"/>
              </a:lnSpc>
            </a:pPr>
            <a:r>
              <a:rPr lang="en-US" b="true" sz="1329">
                <a:solidFill>
                  <a:srgbClr val="D9E1FF"/>
                </a:solidFill>
                <a:latin typeface="Martel Semi-Bold"/>
                <a:ea typeface="Martel Semi-Bold"/>
                <a:cs typeface="Martel Semi-Bold"/>
                <a:sym typeface="Martel Semi-Bold"/>
              </a:rPr>
              <a:t>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98002" y="3908604"/>
            <a:ext cx="1762239" cy="287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Backup na Nuvem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00106" y="4240901"/>
            <a:ext cx="38586" cy="251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1"/>
              </a:lnSpc>
            </a:pPr>
            <a:r>
              <a:rPr lang="en-US" b="true" sz="1329">
                <a:solidFill>
                  <a:srgbClr val="D9E1FF"/>
                </a:solidFill>
                <a:latin typeface="Martel Semi-Bold"/>
                <a:ea typeface="Martel Semi-Bold"/>
                <a:cs typeface="Martel Semi-Bold"/>
                <a:sym typeface="Martel Semi-Bold"/>
              </a:rPr>
              <a:t>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98002" y="2150831"/>
            <a:ext cx="1932318" cy="287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Trabalho em Equipe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22886" y="2431151"/>
            <a:ext cx="38586" cy="251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1"/>
              </a:lnSpc>
            </a:pPr>
            <a:r>
              <a:rPr lang="en-US" b="true" sz="1329">
                <a:solidFill>
                  <a:srgbClr val="D9E1FF"/>
                </a:solidFill>
                <a:latin typeface="Martel Semi-Bold"/>
                <a:ea typeface="Martel Semi-Bold"/>
                <a:cs typeface="Martel Semi-Bold"/>
                <a:sym typeface="Martel Semi-Bold"/>
              </a:rPr>
              <a:t>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191402" y="3960581"/>
            <a:ext cx="1220934" cy="287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Organização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882517" y="4240901"/>
            <a:ext cx="38586" cy="251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1"/>
              </a:lnSpc>
            </a:pPr>
            <a:r>
              <a:rPr lang="en-US" b="true" sz="1329">
                <a:solidFill>
                  <a:srgbClr val="D9E1FF"/>
                </a:solidFill>
                <a:latin typeface="Martel Semi-Bold"/>
                <a:ea typeface="Martel Semi-Bold"/>
                <a:cs typeface="Martel Semi-Bold"/>
                <a:sym typeface="Martel Semi-Bold"/>
              </a:rPr>
              <a:t>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191402" y="2150831"/>
            <a:ext cx="1857746" cy="287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Histórico Completo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641678" y="2431151"/>
            <a:ext cx="38586" cy="251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1"/>
              </a:lnSpc>
            </a:pPr>
            <a:r>
              <a:rPr lang="en-US" b="true" sz="1329">
                <a:solidFill>
                  <a:srgbClr val="D9E1FF"/>
                </a:solidFill>
                <a:latin typeface="Martel Semi-Bold"/>
                <a:ea typeface="Martel Semi-Bold"/>
                <a:cs typeface="Martel Semi-Bold"/>
                <a:sym typeface="Martel Semi-Bold"/>
              </a:rPr>
              <a:t>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191402" y="5529887"/>
            <a:ext cx="2307384" cy="287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Open Source &amp; Carreira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708181" y="5803001"/>
            <a:ext cx="38586" cy="251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1"/>
              </a:lnSpc>
            </a:pPr>
            <a:r>
              <a:rPr lang="en-US" b="true" sz="1329">
                <a:solidFill>
                  <a:srgbClr val="D9E1FF"/>
                </a:solidFill>
                <a:latin typeface="Martel Semi-Bold"/>
                <a:ea typeface="Martel Semi-Bold"/>
                <a:cs typeface="Martel Semi-Bold"/>
                <a:sym typeface="Martel Semi-Bold"/>
              </a:rPr>
              <a:t>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98002" y="4240901"/>
            <a:ext cx="3958895" cy="223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1"/>
              </a:lnSpc>
            </a:pPr>
            <a:r>
              <a:rPr lang="en-US" b="true" sz="1329">
                <a:solidFill>
                  <a:srgbClr val="D9E1FF"/>
                </a:solidFill>
                <a:latin typeface="Martel Semi-Bold"/>
                <a:ea typeface="Martel Semi-Bold"/>
                <a:cs typeface="Martel Semi-Bold"/>
                <a:sym typeface="Martel Semi-Bold"/>
              </a:rPr>
              <a:t>Seu código seguro, acessível de qualquer lugar.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98002" y="5790848"/>
            <a:ext cx="4989547" cy="223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1"/>
              </a:lnSpc>
            </a:pPr>
            <a:r>
              <a:rPr lang="en-US" b="true" sz="1329">
                <a:solidFill>
                  <a:srgbClr val="D9E1FF"/>
                </a:solidFill>
                <a:latin typeface="Martel Semi-Bold"/>
                <a:ea typeface="Martel Semi-Bold"/>
                <a:cs typeface="Martel Semi-Bold"/>
                <a:sym typeface="Martel Semi-Bold"/>
              </a:rPr>
              <a:t>Controle de acesso, revisões obrigatórias e rastreabilidade.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98002" y="2459545"/>
            <a:ext cx="5277402" cy="223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1"/>
              </a:lnSpc>
            </a:pPr>
            <a:r>
              <a:rPr lang="en-US" b="true" sz="1329">
                <a:solidFill>
                  <a:srgbClr val="D9E1FF"/>
                </a:solidFill>
                <a:latin typeface="Martel Semi-Bold"/>
                <a:ea typeface="Martel Semi-Bold"/>
                <a:cs typeface="Martel Semi-Bold"/>
                <a:sym typeface="Martel Semi-Bold"/>
              </a:rPr>
              <a:t>Várias pessoas no mesmo projeto sem sobrescrever o trabalho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98002" y="2701995"/>
            <a:ext cx="589464" cy="251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1"/>
              </a:lnSpc>
            </a:pPr>
            <a:r>
              <a:rPr lang="en-US" b="true" sz="1329">
                <a:solidFill>
                  <a:srgbClr val="D9E1FF"/>
                </a:solidFill>
                <a:latin typeface="Martel Semi-Bold"/>
                <a:ea typeface="Martel Semi-Bold"/>
                <a:cs typeface="Martel Semi-Bold"/>
                <a:sym typeface="Martel Semi-Bold"/>
              </a:rPr>
              <a:t>alheio.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191402" y="2478776"/>
            <a:ext cx="3716512" cy="223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1"/>
              </a:lnSpc>
            </a:pPr>
            <a:r>
              <a:rPr lang="en-US" b="true" sz="1329">
                <a:solidFill>
                  <a:srgbClr val="D9E1FF"/>
                </a:solidFill>
                <a:latin typeface="Martel Semi-Bold"/>
                <a:ea typeface="Martel Semi-Bold"/>
                <a:cs typeface="Martel Semi-Bold"/>
                <a:sym typeface="Martel Semi-Bold"/>
              </a:rPr>
              <a:t>Saiba quem mudou oquê, quando e por quê.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191402" y="5803001"/>
            <a:ext cx="4805382" cy="223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1"/>
              </a:lnSpc>
            </a:pPr>
            <a:r>
              <a:rPr lang="en-US" b="true" sz="1329">
                <a:solidFill>
                  <a:srgbClr val="D9E1FF"/>
                </a:solidFill>
                <a:latin typeface="Martel Semi-Bold"/>
                <a:ea typeface="Martel Semi-Bold"/>
                <a:cs typeface="Martel Semi-Bold"/>
                <a:sym typeface="Martel Semi-Bold"/>
              </a:rPr>
              <a:t>Usado por Google, Microsofte milhares de projetos open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191402" y="6060176"/>
            <a:ext cx="620287" cy="251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1"/>
              </a:lnSpc>
            </a:pPr>
            <a:r>
              <a:rPr lang="en-US" b="true" sz="1329">
                <a:solidFill>
                  <a:srgbClr val="D9E1FF"/>
                </a:solidFill>
                <a:latin typeface="Martel Semi-Bold"/>
                <a:ea typeface="Martel Semi-Bold"/>
                <a:cs typeface="Martel Semi-Bold"/>
                <a:sym typeface="Martel Semi-Bold"/>
              </a:rPr>
              <a:t>source.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191402" y="4276373"/>
            <a:ext cx="5173904" cy="223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1"/>
              </a:lnSpc>
            </a:pPr>
            <a:r>
              <a:rPr lang="en-US" b="true" sz="1329">
                <a:solidFill>
                  <a:srgbClr val="D9E1FF"/>
                </a:solidFill>
                <a:latin typeface="Martel Semi-Bold"/>
                <a:ea typeface="Martel Semi-Bold"/>
                <a:cs typeface="Martel Semi-Bold"/>
                <a:sym typeface="Martel Semi-Bold"/>
              </a:rPr>
              <a:t>Projetos estruturados com branches, issues e documentação.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9748330" y="6110353"/>
            <a:ext cx="5558704" cy="1304925"/>
            <a:chOff x="0" y="0"/>
            <a:chExt cx="5558704" cy="130492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558704" cy="1304925"/>
            </a:xfrm>
            <a:custGeom>
              <a:avLst/>
              <a:gdLst/>
              <a:ahLst/>
              <a:cxnLst/>
              <a:rect r="r" b="b" t="t" l="l"/>
              <a:pathLst>
                <a:path h="1304925" w="5558704">
                  <a:moveTo>
                    <a:pt x="0" y="0"/>
                  </a:moveTo>
                  <a:lnTo>
                    <a:pt x="0" y="1304925"/>
                  </a:lnTo>
                  <a:lnTo>
                    <a:pt x="5558704" y="1304925"/>
                  </a:lnTo>
                  <a:lnTo>
                    <a:pt x="5558704" y="0"/>
                  </a:lnTo>
                  <a:close/>
                </a:path>
              </a:pathLst>
            </a:custGeom>
            <a:solidFill>
              <a:srgbClr val="405FB2"/>
            </a:solidFill>
          </p:spPr>
        </p:sp>
      </p:grpSp>
    </p:spTree>
  </p:cSld>
  <p:clrMapOvr>
    <a:masterClrMapping/>
  </p:clrMapOvr>
  <p:transition spd="med">
    <p:cover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05F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06428" y="1473241"/>
            <a:ext cx="5359394" cy="4692577"/>
          </a:xfrm>
          <a:custGeom>
            <a:avLst/>
            <a:gdLst/>
            <a:ahLst/>
            <a:cxnLst/>
            <a:rect r="r" b="b" t="t" l="l"/>
            <a:pathLst>
              <a:path h="4692577" w="5359394">
                <a:moveTo>
                  <a:pt x="0" y="0"/>
                </a:moveTo>
                <a:lnTo>
                  <a:pt x="5359394" y="0"/>
                </a:lnTo>
                <a:lnTo>
                  <a:pt x="5359394" y="4692577"/>
                </a:lnTo>
                <a:lnTo>
                  <a:pt x="0" y="46925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477000" y="3919757"/>
            <a:ext cx="5172075" cy="942975"/>
          </a:xfrm>
          <a:custGeom>
            <a:avLst/>
            <a:gdLst/>
            <a:ahLst/>
            <a:cxnLst/>
            <a:rect r="r" b="b" t="t" l="l"/>
            <a:pathLst>
              <a:path h="942975" w="5172075">
                <a:moveTo>
                  <a:pt x="0" y="0"/>
                </a:moveTo>
                <a:lnTo>
                  <a:pt x="5172075" y="0"/>
                </a:lnTo>
                <a:lnTo>
                  <a:pt x="5172075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386119" y="2292746"/>
            <a:ext cx="91797" cy="80323"/>
          </a:xfrm>
          <a:custGeom>
            <a:avLst/>
            <a:gdLst/>
            <a:ahLst/>
            <a:cxnLst/>
            <a:rect r="r" b="b" t="t" l="l"/>
            <a:pathLst>
              <a:path h="80323" w="91797">
                <a:moveTo>
                  <a:pt x="0" y="0"/>
                </a:moveTo>
                <a:lnTo>
                  <a:pt x="91797" y="0"/>
                </a:lnTo>
                <a:lnTo>
                  <a:pt x="91797" y="80322"/>
                </a:lnTo>
                <a:lnTo>
                  <a:pt x="0" y="803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386119" y="2614036"/>
            <a:ext cx="91797" cy="80323"/>
          </a:xfrm>
          <a:custGeom>
            <a:avLst/>
            <a:gdLst/>
            <a:ahLst/>
            <a:cxnLst/>
            <a:rect r="r" b="b" t="t" l="l"/>
            <a:pathLst>
              <a:path h="80323" w="91797">
                <a:moveTo>
                  <a:pt x="0" y="0"/>
                </a:moveTo>
                <a:lnTo>
                  <a:pt x="91797" y="0"/>
                </a:lnTo>
                <a:lnTo>
                  <a:pt x="91797" y="80322"/>
                </a:lnTo>
                <a:lnTo>
                  <a:pt x="0" y="803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386119" y="2935326"/>
            <a:ext cx="91797" cy="80323"/>
          </a:xfrm>
          <a:custGeom>
            <a:avLst/>
            <a:gdLst/>
            <a:ahLst/>
            <a:cxnLst/>
            <a:rect r="r" b="b" t="t" l="l"/>
            <a:pathLst>
              <a:path h="80323" w="91797">
                <a:moveTo>
                  <a:pt x="0" y="0"/>
                </a:moveTo>
                <a:lnTo>
                  <a:pt x="91797" y="0"/>
                </a:lnTo>
                <a:lnTo>
                  <a:pt x="91797" y="80323"/>
                </a:lnTo>
                <a:lnTo>
                  <a:pt x="0" y="803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386119" y="3256616"/>
            <a:ext cx="91797" cy="80323"/>
          </a:xfrm>
          <a:custGeom>
            <a:avLst/>
            <a:gdLst/>
            <a:ahLst/>
            <a:cxnLst/>
            <a:rect r="r" b="b" t="t" l="l"/>
            <a:pathLst>
              <a:path h="80323" w="91797">
                <a:moveTo>
                  <a:pt x="0" y="0"/>
                </a:moveTo>
                <a:lnTo>
                  <a:pt x="91797" y="0"/>
                </a:lnTo>
                <a:lnTo>
                  <a:pt x="91797" y="80323"/>
                </a:lnTo>
                <a:lnTo>
                  <a:pt x="0" y="803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6657975" y="4167407"/>
            <a:ext cx="228600" cy="180975"/>
            <a:chOff x="0" y="0"/>
            <a:chExt cx="304800" cy="2413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04800" cy="241300"/>
            </a:xfrm>
            <a:custGeom>
              <a:avLst/>
              <a:gdLst/>
              <a:ahLst/>
              <a:cxnLst/>
              <a:rect r="r" b="b" t="t" l="l"/>
              <a:pathLst>
                <a:path h="241300" w="304800">
                  <a:moveTo>
                    <a:pt x="27940" y="0"/>
                  </a:moveTo>
                  <a:cubicBezTo>
                    <a:pt x="20193" y="0"/>
                    <a:pt x="13589" y="2667"/>
                    <a:pt x="8128" y="8128"/>
                  </a:cubicBezTo>
                  <a:cubicBezTo>
                    <a:pt x="2667" y="13589"/>
                    <a:pt x="0" y="20193"/>
                    <a:pt x="0" y="27813"/>
                  </a:cubicBezTo>
                  <a:lnTo>
                    <a:pt x="0" y="213487"/>
                  </a:lnTo>
                  <a:cubicBezTo>
                    <a:pt x="0" y="221107"/>
                    <a:pt x="2794" y="227711"/>
                    <a:pt x="8128" y="233172"/>
                  </a:cubicBezTo>
                  <a:cubicBezTo>
                    <a:pt x="13462" y="238633"/>
                    <a:pt x="20193" y="241300"/>
                    <a:pt x="27940" y="241300"/>
                  </a:cubicBezTo>
                  <a:lnTo>
                    <a:pt x="276860" y="241300"/>
                  </a:lnTo>
                  <a:cubicBezTo>
                    <a:pt x="284607" y="241300"/>
                    <a:pt x="291211" y="238633"/>
                    <a:pt x="296672" y="233172"/>
                  </a:cubicBezTo>
                  <a:cubicBezTo>
                    <a:pt x="302133" y="227711"/>
                    <a:pt x="304800" y="221107"/>
                    <a:pt x="304800" y="213360"/>
                  </a:cubicBezTo>
                  <a:lnTo>
                    <a:pt x="304800" y="27940"/>
                  </a:lnTo>
                  <a:cubicBezTo>
                    <a:pt x="304800" y="20193"/>
                    <a:pt x="302133" y="13589"/>
                    <a:pt x="296672" y="8128"/>
                  </a:cubicBezTo>
                  <a:cubicBezTo>
                    <a:pt x="291211" y="2667"/>
                    <a:pt x="284607" y="0"/>
                    <a:pt x="276860" y="0"/>
                  </a:cubicBez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382250" y="5962650"/>
            <a:ext cx="1809750" cy="895350"/>
            <a:chOff x="0" y="0"/>
            <a:chExt cx="1809750" cy="8953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09750" cy="895350"/>
            </a:xfrm>
            <a:custGeom>
              <a:avLst/>
              <a:gdLst/>
              <a:ahLst/>
              <a:cxnLst/>
              <a:rect r="r" b="b" t="t" l="l"/>
              <a:pathLst>
                <a:path h="895350" w="1809750">
                  <a:moveTo>
                    <a:pt x="0" y="0"/>
                  </a:moveTo>
                  <a:lnTo>
                    <a:pt x="0" y="895350"/>
                  </a:lnTo>
                  <a:lnTo>
                    <a:pt x="1809750" y="895350"/>
                  </a:lnTo>
                  <a:lnTo>
                    <a:pt x="1809750" y="0"/>
                  </a:lnTo>
                  <a:close/>
                </a:path>
              </a:pathLst>
            </a:custGeom>
            <a:solidFill>
              <a:srgbClr val="100C35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342245" y="6343650"/>
            <a:ext cx="1754505" cy="419100"/>
            <a:chOff x="0" y="0"/>
            <a:chExt cx="2339340" cy="558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39340" cy="558800"/>
            </a:xfrm>
            <a:custGeom>
              <a:avLst/>
              <a:gdLst/>
              <a:ahLst/>
              <a:cxnLst/>
              <a:rect r="r" b="b" t="t" l="l"/>
              <a:pathLst>
                <a:path h="558800" w="2339340">
                  <a:moveTo>
                    <a:pt x="0" y="0"/>
                  </a:moveTo>
                  <a:lnTo>
                    <a:pt x="2339340" y="0"/>
                  </a:lnTo>
                  <a:lnTo>
                    <a:pt x="2339340" y="558800"/>
                  </a:lnTo>
                  <a:lnTo>
                    <a:pt x="0" y="558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685800" y="270003"/>
            <a:ext cx="4289176" cy="1098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65"/>
              </a:lnSpc>
            </a:pPr>
            <a:r>
              <a:rPr lang="en-US" sz="633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Conclusão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71722" y="3739288"/>
            <a:ext cx="5554058" cy="494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1"/>
              </a:lnSpc>
            </a:pPr>
            <a:r>
              <a:rPr lang="en-US" sz="2102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facilit</a:t>
            </a:r>
            <a:r>
              <a:rPr lang="en-US" sz="2102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a o armazenamento remoto e a colaboração</a:t>
            </a:r>
          </a:p>
          <a:p>
            <a:pPr algn="l" rtl="true">
              <a:lnSpc>
                <a:spcPts val="881"/>
              </a:lnSpc>
            </a:pPr>
          </a:p>
          <a:p>
            <a:pPr algn="l" rtl="true">
              <a:lnSpc>
                <a:spcPts val="881"/>
              </a:lnSpc>
            </a:pPr>
          </a:p>
          <a:p>
            <a:pPr algn="l">
              <a:lnSpc>
                <a:spcPts val="881"/>
              </a:lnSpc>
            </a:pPr>
            <a:r>
              <a:rPr lang="en-US" sz="1762">
                <a:solidFill>
                  <a:srgbClr val="D9E1FF"/>
                </a:solidFill>
                <a:latin typeface="Martel Light"/>
                <a:ea typeface="Martel Light"/>
                <a:cs typeface="Martel Light"/>
                <a:sym typeface="Martel Light"/>
              </a:rPr>
              <a:t>entre desenvolvedores.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39750" y="2185987"/>
            <a:ext cx="4692749" cy="493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34"/>
              </a:lnSpc>
            </a:pPr>
            <a:r>
              <a:rPr lang="en-US" sz="2069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Commit</a:t>
            </a:r>
            <a:r>
              <a:rPr lang="en-US" sz="2069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069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controla versões dos arquivos localmente,</a:t>
            </a:r>
          </a:p>
          <a:p>
            <a:pPr algn="just" rtl="true">
              <a:lnSpc>
                <a:spcPts val="867"/>
              </a:lnSpc>
            </a:pPr>
          </a:p>
          <a:p>
            <a:pPr algn="just" rtl="true">
              <a:lnSpc>
                <a:spcPts val="867"/>
              </a:lnSpc>
            </a:pPr>
          </a:p>
          <a:p>
            <a:pPr algn="just">
              <a:lnSpc>
                <a:spcPts val="867"/>
              </a:lnSpc>
            </a:pPr>
            <a:r>
              <a:rPr lang="en-US" sz="1734">
                <a:solidFill>
                  <a:srgbClr val="D9E1FF"/>
                </a:solidFill>
                <a:latin typeface="Martel Light"/>
                <a:ea typeface="Martel Light"/>
                <a:cs typeface="Martel Light"/>
                <a:sym typeface="Martel Light"/>
              </a:rPr>
              <a:t>registrando cada mudança com segurança.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71722" y="4652456"/>
            <a:ext cx="2012553" cy="540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b="true" sz="30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Diferencial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200378" y="1695519"/>
            <a:ext cx="1389626" cy="348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5"/>
              </a:lnSpc>
            </a:pPr>
            <a:r>
              <a:rPr lang="en-US" sz="201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Referências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03549" y="5254638"/>
            <a:ext cx="4464348" cy="5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399">
                <a:solidFill>
                  <a:srgbClr val="D9E1FF"/>
                </a:solidFill>
                <a:latin typeface="Martel Light"/>
                <a:ea typeface="Martel Light"/>
                <a:cs typeface="Martel Light"/>
                <a:sym typeface="Martel Light"/>
              </a:rPr>
              <a:t>Dominar essas ferramentas é essencial para quem quer carreira em tecnologia.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607189" y="2089696"/>
            <a:ext cx="5157350" cy="1339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b="true" sz="1685">
                <a:solidFill>
                  <a:srgbClr val="D9E1FF"/>
                </a:solidFill>
                <a:latin typeface="Martel Semi-Bold"/>
                <a:ea typeface="Martel Semi-Bold"/>
                <a:cs typeface="Martel Semi-Bold"/>
                <a:sym typeface="Martel Semi-Bold"/>
              </a:rPr>
              <a:t>Documentação oficial do Git — </a:t>
            </a:r>
            <a:r>
              <a:rPr lang="en-US" b="true" sz="1685">
                <a:solidFill>
                  <a:srgbClr val="D9E1FF"/>
                </a:solidFill>
                <a:latin typeface="Martel Bold"/>
                <a:ea typeface="Martel Bold"/>
                <a:cs typeface="Martel Bold"/>
                <a:sym typeface="Martel Bold"/>
              </a:rPr>
              <a:t>git-scm.com </a:t>
            </a:r>
            <a:r>
              <a:rPr lang="en-US" b="true" sz="1685">
                <a:solidFill>
                  <a:srgbClr val="D9E1FF"/>
                </a:solidFill>
                <a:latin typeface="Martel Semi-Bold"/>
                <a:ea typeface="Martel Semi-Bold"/>
                <a:cs typeface="Martel Semi-Bold"/>
                <a:sym typeface="Martel Semi-Bold"/>
              </a:rPr>
              <a:t>Documentação do GitHub — </a:t>
            </a:r>
            <a:r>
              <a:rPr lang="en-US" b="true" sz="1685">
                <a:solidFill>
                  <a:srgbClr val="D9E1FF"/>
                </a:solidFill>
                <a:latin typeface="Martel Bold"/>
                <a:ea typeface="Martel Bold"/>
                <a:cs typeface="Martel Bold"/>
                <a:sym typeface="Martel Bold"/>
              </a:rPr>
              <a:t>docs.github.com</a:t>
            </a:r>
          </a:p>
          <a:p>
            <a:pPr algn="l">
              <a:lnSpc>
                <a:spcPts val="3071"/>
              </a:lnSpc>
            </a:pPr>
            <a:r>
              <a:rPr lang="en-US" b="true" sz="1685">
                <a:solidFill>
                  <a:srgbClr val="D9E1FF"/>
                </a:solidFill>
                <a:latin typeface="Martel Semi-Bold"/>
                <a:ea typeface="Martel Semi-Bold"/>
                <a:cs typeface="Martel Semi-Bold"/>
                <a:sym typeface="Martel Semi-Bold"/>
              </a:rPr>
              <a:t>Curso gratuito: </a:t>
            </a:r>
            <a:r>
              <a:rPr lang="en-US" b="true" sz="1685">
                <a:solidFill>
                  <a:srgbClr val="D9E1FF"/>
                </a:solidFill>
                <a:latin typeface="Martel Bold"/>
                <a:ea typeface="Martel Bold"/>
                <a:cs typeface="Martel Bold"/>
                <a:sym typeface="Martel Bold"/>
              </a:rPr>
              <a:t>GitHub Skills</a:t>
            </a:r>
          </a:p>
          <a:p>
            <a:pPr algn="l">
              <a:lnSpc>
                <a:spcPts val="1987"/>
              </a:lnSpc>
            </a:pPr>
            <a:r>
              <a:rPr lang="en-US" b="true" sz="1685">
                <a:solidFill>
                  <a:srgbClr val="D9E1FF"/>
                </a:solidFill>
                <a:latin typeface="Martel Semi-Bold"/>
                <a:ea typeface="Martel Semi-Bold"/>
                <a:cs typeface="Martel Semi-Bold"/>
                <a:sym typeface="Martel Semi-Bold"/>
              </a:rPr>
              <a:t>Livro: Pro Git (disponível gratuitamente online)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062635" y="4005167"/>
            <a:ext cx="4327484" cy="5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399">
                <a:solidFill>
                  <a:srgbClr val="FFFFFF"/>
                </a:solidFill>
                <a:latin typeface="Martel Light"/>
                <a:ea typeface="Martel Light"/>
                <a:cs typeface="Martel Light"/>
                <a:sym typeface="Martel Light"/>
              </a:rPr>
              <a:t>Comece hoje: crie sua conta no GitHub e faça seu primeiro repositório!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412648" y="5553075"/>
            <a:ext cx="5558704" cy="1304925"/>
            <a:chOff x="0" y="0"/>
            <a:chExt cx="5558704" cy="130492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558704" cy="1304925"/>
            </a:xfrm>
            <a:custGeom>
              <a:avLst/>
              <a:gdLst/>
              <a:ahLst/>
              <a:cxnLst/>
              <a:rect r="r" b="b" t="t" l="l"/>
              <a:pathLst>
                <a:path h="1304925" w="5558704">
                  <a:moveTo>
                    <a:pt x="0" y="0"/>
                  </a:moveTo>
                  <a:lnTo>
                    <a:pt x="0" y="1304925"/>
                  </a:lnTo>
                  <a:lnTo>
                    <a:pt x="5558704" y="1304925"/>
                  </a:lnTo>
                  <a:lnTo>
                    <a:pt x="5558704" y="0"/>
                  </a:lnTo>
                  <a:close/>
                </a:path>
              </a:pathLst>
            </a:custGeom>
            <a:solidFill>
              <a:srgbClr val="405FB2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903549" y="1577711"/>
            <a:ext cx="1548332" cy="526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11"/>
              </a:lnSpc>
            </a:pPr>
            <a:r>
              <a:rPr lang="en-US" sz="307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Commit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87796" y="3088958"/>
            <a:ext cx="1519436" cy="580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0"/>
              </a:lnSpc>
            </a:pPr>
            <a:r>
              <a:rPr lang="en-US" sz="34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GitHub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DAHUxFmp2P8</dc:identifier>
  <dcterms:modified xsi:type="dcterms:W3CDTF">2011-08-01T06:04:30Z</dcterms:modified>
  <cp:revision>1</cp:revision>
  <dc:title>ap_github.pdf</dc:title>
</cp:coreProperties>
</file>